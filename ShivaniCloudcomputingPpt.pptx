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2" r:id="rId2"/>
    <p:sldId id="293" r:id="rId3"/>
    <p:sldId id="294" r:id="rId4"/>
    <p:sldId id="263" r:id="rId5"/>
    <p:sldId id="264" r:id="rId6"/>
    <p:sldId id="295" r:id="rId7"/>
    <p:sldId id="267" r:id="rId8"/>
    <p:sldId id="271" r:id="rId9"/>
    <p:sldId id="268" r:id="rId10"/>
    <p:sldId id="273" r:id="rId11"/>
    <p:sldId id="274" r:id="rId12"/>
    <p:sldId id="275" r:id="rId13"/>
    <p:sldId id="276" r:id="rId14"/>
    <p:sldId id="277" r:id="rId15"/>
    <p:sldId id="278" r:id="rId16"/>
    <p:sldId id="269" r:id="rId17"/>
    <p:sldId id="265" r:id="rId18"/>
    <p:sldId id="266" r:id="rId19"/>
    <p:sldId id="291" r:id="rId20"/>
    <p:sldId id="281" r:id="rId21"/>
    <p:sldId id="290" r:id="rId22"/>
    <p:sldId id="289" r:id="rId23"/>
    <p:sldId id="286" r:id="rId24"/>
    <p:sldId id="287" r:id="rId25"/>
    <p:sldId id="288" r:id="rId26"/>
    <p:sldId id="283" r:id="rId27"/>
    <p:sldId id="282" r:id="rId28"/>
    <p:sldId id="284" r:id="rId29"/>
    <p:sldId id="296" r:id="rId30"/>
    <p:sldId id="323" r:id="rId31"/>
    <p:sldId id="324" r:id="rId32"/>
    <p:sldId id="272"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2A1A"/>
    <a:srgbClr val="1A8D25"/>
    <a:srgbClr val="002B80"/>
    <a:srgbClr val="27832B"/>
    <a:srgbClr val="23BF32"/>
    <a:srgbClr val="C93C25"/>
    <a:srgbClr val="10253F"/>
    <a:srgbClr val="003399"/>
    <a:srgbClr val="008000"/>
    <a:srgbClr val="2E9A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47" autoAdjust="0"/>
    <p:restoredTop sz="94660"/>
  </p:normalViewPr>
  <p:slideViewPr>
    <p:cSldViewPr>
      <p:cViewPr varScale="1">
        <p:scale>
          <a:sx n="72" d="100"/>
          <a:sy n="72" d="100"/>
        </p:scale>
        <p:origin x="1548" y="5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8E3C521-B26C-4E71-8D4A-5979AD671D3A}" type="datetimeFigureOut">
              <a:rPr lang="en-IN" smtClean="0"/>
              <a:t>02-04-2022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8E3C521-B26C-4E71-8D4A-5979AD671D3A}" type="datetimeFigureOut">
              <a:rPr lang="en-IN" smtClean="0"/>
              <a:t>02-04-2022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E3C521-B26C-4E71-8D4A-5979AD671D3A}" type="datetimeFigureOut">
              <a:rPr lang="en-IN" smtClean="0"/>
              <a:t>02-04-2022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8E3C521-B26C-4E71-8D4A-5979AD671D3A}" type="datetimeFigureOut">
              <a:rPr lang="en-IN" smtClean="0"/>
              <a:t>02-04-2022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8E3C521-B26C-4E71-8D4A-5979AD671D3A}" type="datetimeFigureOut">
              <a:rPr lang="en-IN" smtClean="0"/>
              <a:t>02-04-2022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8E3C521-B26C-4E71-8D4A-5979AD671D3A}" type="datetimeFigureOut">
              <a:rPr lang="en-IN" smtClean="0"/>
              <a:t>02-04-2022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E3C521-B26C-4E71-8D4A-5979AD671D3A}" type="datetimeFigureOut">
              <a:rPr lang="en-IN" smtClean="0"/>
              <a:t>02-04-2022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E3C521-B26C-4E71-8D4A-5979AD671D3A}" type="datetimeFigureOut">
              <a:rPr lang="en-IN" smtClean="0"/>
              <a:t>02-04-2022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E3C521-B26C-4E71-8D4A-5979AD671D3A}" type="datetimeFigureOut">
              <a:rPr lang="en-IN" smtClean="0"/>
              <a:t>02-04-2022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8E3C521-B26C-4E71-8D4A-5979AD671D3A}" type="datetimeFigureOut">
              <a:rPr lang="en-IN" smtClean="0"/>
              <a:t>02-04-2022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8E3C521-B26C-4E71-8D4A-5979AD671D3A}" type="datetimeFigureOut">
              <a:rPr lang="en-IN" smtClean="0"/>
              <a:t>02-04-2022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47D10C-D1E7-488A-9783-B85F3D200EE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E3C521-B26C-4E71-8D4A-5979AD671D3A}" type="datetimeFigureOut">
              <a:rPr lang="en-IN" smtClean="0"/>
              <a:t>02-04-2022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7D10C-D1E7-488A-9783-B85F3D200EE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file:///C:\Users\HP\3D%20Objects\Evolution_of_Cloud_Computing_and_Enabling_Technolo.pdf" TargetMode="External"/><Relationship Id="rId2" Type="http://schemas.openxmlformats.org/officeDocument/2006/relationships/hyperlink" Target="file:///C:\Users\HP\3D%20Objects\cloud_computing_final_report.pdf" TargetMode="External"/><Relationship Id="rId1" Type="http://schemas.openxmlformats.org/officeDocument/2006/relationships/slideLayout" Target="../slideLayouts/slideLayout7.xml"/><Relationship Id="rId6" Type="http://schemas.openxmlformats.org/officeDocument/2006/relationships/hyperlink" Target="https://en.wikipedia.org/wiki/Cloud_computing" TargetMode="External"/><Relationship Id="rId5" Type="http://schemas.openxmlformats.org/officeDocument/2006/relationships/hyperlink" Target="https://www.stratospherenetworks.com/advantages-and-disadvantages-of-cloud.html" TargetMode="External"/><Relationship Id="rId4" Type="http://schemas.openxmlformats.org/officeDocument/2006/relationships/hyperlink" Target="https://www.guru99.com/advantages-disadvantages-cloud-computing.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80259" y="844865"/>
            <a:ext cx="8918417" cy="4583364"/>
            <a:chOff x="80259" y="844865"/>
            <a:chExt cx="8918417" cy="4583364"/>
          </a:xfrm>
        </p:grpSpPr>
        <p:grpSp>
          <p:nvGrpSpPr>
            <p:cNvPr id="6" name="Group 5"/>
            <p:cNvGrpSpPr/>
            <p:nvPr/>
          </p:nvGrpSpPr>
          <p:grpSpPr>
            <a:xfrm>
              <a:off x="80259" y="844865"/>
              <a:ext cx="8918417" cy="3757071"/>
              <a:chOff x="107012" y="-16514"/>
              <a:chExt cx="11891222" cy="5009428"/>
            </a:xfrm>
          </p:grpSpPr>
          <p:sp>
            <p:nvSpPr>
              <p:cNvPr id="2" name="Oval 1"/>
              <p:cNvSpPr/>
              <p:nvPr/>
            </p:nvSpPr>
            <p:spPr>
              <a:xfrm>
                <a:off x="324398" y="195232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5" name="Straight Connector 4"/>
              <p:cNvCxnSpPr/>
              <p:nvPr/>
            </p:nvCxnSpPr>
            <p:spPr>
              <a:xfrm flipV="1">
                <a:off x="367212" y="0"/>
                <a:ext cx="0" cy="198674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64136" y="209641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0" name="Straight Connector 9"/>
              <p:cNvCxnSpPr/>
              <p:nvPr/>
            </p:nvCxnSpPr>
            <p:spPr>
              <a:xfrm flipV="1">
                <a:off x="609856" y="0"/>
                <a:ext cx="0" cy="2130170"/>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849342" y="0"/>
                <a:ext cx="0" cy="300356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045285" y="0"/>
                <a:ext cx="0" cy="2192323"/>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400884" y="1"/>
                <a:ext cx="0" cy="381867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1727456" y="1777387"/>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952428" y="329544"/>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2235200" y="0"/>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1197684" y="2781895"/>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1727456" y="384267"/>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2474686" y="32993"/>
                <a:ext cx="0" cy="1522726"/>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2474686" y="2130169"/>
                <a:ext cx="0" cy="1967390"/>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1952428" y="3002728"/>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2750457" y="68015"/>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2975428" y="1501781"/>
                <a:ext cx="0" cy="119508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3251200" y="68015"/>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975428" y="99109"/>
                <a:ext cx="0" cy="119508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609856" y="2367024"/>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358828" y="1214448"/>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476172" y="23142"/>
                <a:ext cx="0" cy="154242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3701144" y="68015"/>
                <a:ext cx="0" cy="1113820"/>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476172" y="2192323"/>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3766459" y="1003046"/>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4042232" y="99109"/>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2750457" y="2744963"/>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2235200" y="2539715"/>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4172857" y="461482"/>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354286" y="38115"/>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3091543" y="2781895"/>
                <a:ext cx="0" cy="1967390"/>
              </a:xfrm>
              <a:prstGeom prst="line">
                <a:avLst/>
              </a:prstGeom>
              <a:ln>
                <a:gradFill flip="none" rotWithShape="1">
                  <a:gsLst>
                    <a:gs pos="54900">
                      <a:srgbClr val="0033CC"/>
                    </a:gs>
                    <a:gs pos="0">
                      <a:srgbClr val="00FFFF"/>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3272972" y="3047842"/>
                <a:ext cx="0" cy="787186"/>
              </a:xfrm>
              <a:prstGeom prst="line">
                <a:avLst/>
              </a:prstGeom>
              <a:ln>
                <a:gradFill flip="none" rotWithShape="1">
                  <a:gsLst>
                    <a:gs pos="54900">
                      <a:srgbClr val="0033CC"/>
                    </a:gs>
                    <a:gs pos="0">
                      <a:srgbClr val="00FFFF"/>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4042232" y="2576083"/>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3766459" y="3145470"/>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2612573" y="1535779"/>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4564743" y="124301"/>
                <a:ext cx="0" cy="109014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4804228" y="336311"/>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4564743" y="1374335"/>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4339772" y="2617820"/>
                <a:ext cx="0" cy="1541893"/>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3628574" y="1451696"/>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2910112" y="2490466"/>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V="1">
                <a:off x="5000172" y="44559"/>
                <a:ext cx="0" cy="116988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5167088" y="44559"/>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V="1">
                <a:off x="5000172" y="1226741"/>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4804228" y="2241548"/>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363031" y="150412"/>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5167088" y="2327122"/>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V="1">
                <a:off x="5493659" y="220923"/>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5493659" y="2066499"/>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5718629" y="1841102"/>
                <a:ext cx="0" cy="923934"/>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5863771" y="99109"/>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V="1">
                <a:off x="5718629" y="566494"/>
                <a:ext cx="0" cy="1127625"/>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6096001" y="198140"/>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V="1">
                <a:off x="5878285" y="2192323"/>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5704112" y="2819013"/>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4564743" y="3379398"/>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V="1">
                <a:off x="3628574" y="3164217"/>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3091543" y="1102922"/>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4731657" y="254142"/>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4956628" y="1687908"/>
                <a:ext cx="0" cy="119508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5232400" y="254142"/>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4956628" y="285236"/>
                <a:ext cx="0" cy="119508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V="1">
                <a:off x="5457372" y="209269"/>
                <a:ext cx="0" cy="154242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5682344" y="254142"/>
                <a:ext cx="0" cy="1113820"/>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V="1">
                <a:off x="5457372" y="2378450"/>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V="1">
                <a:off x="5747659" y="1189173"/>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V="1">
                <a:off x="6023432" y="285236"/>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V="1">
                <a:off x="4731657" y="2931090"/>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V="1">
                <a:off x="6154057" y="647609"/>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V="1">
                <a:off x="6335486" y="224243"/>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V="1">
                <a:off x="5072743" y="2968022"/>
                <a:ext cx="0" cy="1967390"/>
              </a:xfrm>
              <a:prstGeom prst="line">
                <a:avLst/>
              </a:prstGeom>
              <a:ln>
                <a:gradFill flip="none" rotWithShape="1">
                  <a:gsLst>
                    <a:gs pos="54900">
                      <a:srgbClr val="0033CC"/>
                    </a:gs>
                    <a:gs pos="0">
                      <a:srgbClr val="00FFFF"/>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V="1">
                <a:off x="5254172" y="3233969"/>
                <a:ext cx="0" cy="787186"/>
              </a:xfrm>
              <a:prstGeom prst="line">
                <a:avLst/>
              </a:prstGeom>
              <a:ln>
                <a:gradFill flip="none" rotWithShape="1">
                  <a:gsLst>
                    <a:gs pos="54900">
                      <a:srgbClr val="0033CC"/>
                    </a:gs>
                    <a:gs pos="0">
                      <a:srgbClr val="00FFFF"/>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V="1">
                <a:off x="6023432" y="2762210"/>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5747659" y="3331598"/>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V="1">
                <a:off x="4593773" y="1721906"/>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V="1">
                <a:off x="6545943" y="310428"/>
                <a:ext cx="0" cy="109014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V="1">
                <a:off x="6785428" y="522439"/>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6545943" y="1560462"/>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6320972" y="2803947"/>
                <a:ext cx="0" cy="1541893"/>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V="1">
                <a:off x="5609774" y="1637823"/>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V="1">
                <a:off x="4891312" y="2676593"/>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V="1">
                <a:off x="6981372" y="230687"/>
                <a:ext cx="0" cy="116988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V="1">
                <a:off x="7148288" y="230687"/>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V="1">
                <a:off x="6981372" y="1412868"/>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V="1">
                <a:off x="6785428" y="2427676"/>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V="1">
                <a:off x="7344231" y="336539"/>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V="1">
                <a:off x="7148288" y="2513249"/>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V="1">
                <a:off x="7474859" y="407050"/>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flipV="1">
                <a:off x="7474859" y="2252626"/>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7699829" y="2027229"/>
                <a:ext cx="0" cy="923934"/>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V="1">
                <a:off x="7844971" y="285236"/>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V="1">
                <a:off x="7699829" y="752621"/>
                <a:ext cx="0" cy="1127625"/>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V="1">
                <a:off x="8077201" y="384267"/>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flipV="1">
                <a:off x="7859485" y="2378450"/>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V="1">
                <a:off x="7685312" y="3005140"/>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V="1">
                <a:off x="6545943" y="3565525"/>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V="1">
                <a:off x="5609774" y="3350344"/>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flipV="1">
                <a:off x="5072743" y="1289049"/>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flipV="1">
                <a:off x="7293428" y="260514"/>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flipV="1">
                <a:off x="7518399" y="1694280"/>
                <a:ext cx="0" cy="119508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V="1">
                <a:off x="7794171" y="260514"/>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V="1">
                <a:off x="7518399" y="291608"/>
                <a:ext cx="0" cy="1195082"/>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V="1">
                <a:off x="8019143" y="215641"/>
                <a:ext cx="0" cy="154242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V="1">
                <a:off x="8244115" y="260514"/>
                <a:ext cx="0" cy="1113820"/>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V="1">
                <a:off x="8019143" y="2384822"/>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V="1">
                <a:off x="8309430" y="1195545"/>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V="1">
                <a:off x="8585203" y="291608"/>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V="1">
                <a:off x="7293428" y="2937463"/>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V="1">
                <a:off x="8715828" y="653981"/>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8897257" y="230615"/>
                <a:ext cx="0" cy="245235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flipV="1">
                <a:off x="7634514" y="2974394"/>
                <a:ext cx="0" cy="1967390"/>
              </a:xfrm>
              <a:prstGeom prst="line">
                <a:avLst/>
              </a:prstGeom>
              <a:ln>
                <a:gradFill flip="none" rotWithShape="1">
                  <a:gsLst>
                    <a:gs pos="54900">
                      <a:srgbClr val="0033CC"/>
                    </a:gs>
                    <a:gs pos="0">
                      <a:srgbClr val="00FFFF"/>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V="1">
                <a:off x="7815943" y="3240341"/>
                <a:ext cx="0" cy="787186"/>
              </a:xfrm>
              <a:prstGeom prst="line">
                <a:avLst/>
              </a:prstGeom>
              <a:ln>
                <a:gradFill flip="none" rotWithShape="1">
                  <a:gsLst>
                    <a:gs pos="54900">
                      <a:srgbClr val="0033CC"/>
                    </a:gs>
                    <a:gs pos="0">
                      <a:srgbClr val="00FFFF"/>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flipV="1">
                <a:off x="8585203" y="2768582"/>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flipV="1">
                <a:off x="8309430" y="3337970"/>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V="1">
                <a:off x="7155544" y="1728278"/>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V="1">
                <a:off x="9107714" y="316800"/>
                <a:ext cx="0" cy="109014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flipV="1">
                <a:off x="9347199" y="528811"/>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flipV="1">
                <a:off x="9107714" y="1566834"/>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flipV="1">
                <a:off x="8882743" y="2810319"/>
                <a:ext cx="0" cy="1541893"/>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V="1">
                <a:off x="8171545" y="1644195"/>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V="1">
                <a:off x="7453083" y="2682966"/>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V="1">
                <a:off x="9543143" y="237059"/>
                <a:ext cx="0" cy="116988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V="1">
                <a:off x="9710059" y="237059"/>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V="1">
                <a:off x="9543143" y="1419240"/>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V="1">
                <a:off x="9347199" y="2434048"/>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V="1">
                <a:off x="9906002" y="342911"/>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flipV="1">
                <a:off x="9710059" y="2519621"/>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flipV="1">
                <a:off x="10036630" y="413422"/>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V="1">
                <a:off x="10036630" y="2258998"/>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V="1">
                <a:off x="10261600" y="2033601"/>
                <a:ext cx="0" cy="923934"/>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V="1">
                <a:off x="10406742" y="291608"/>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V="1">
                <a:off x="10261600" y="758993"/>
                <a:ext cx="0" cy="1127625"/>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V="1">
                <a:off x="10638972" y="390639"/>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V="1">
                <a:off x="10421256" y="2384822"/>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V="1">
                <a:off x="10247083" y="3011512"/>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V="1">
                <a:off x="9107714" y="3571897"/>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V="1">
                <a:off x="8171545" y="3356716"/>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flipV="1">
                <a:off x="7634514" y="1295422"/>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flipV="1">
                <a:off x="10421256" y="169206"/>
                <a:ext cx="0" cy="109014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flipV="1">
                <a:off x="10660741" y="381217"/>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flipV="1">
                <a:off x="10421256" y="1419240"/>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flipV="1">
                <a:off x="10856685" y="89465"/>
                <a:ext cx="0" cy="116988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flipV="1">
                <a:off x="11023601" y="89465"/>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flipV="1">
                <a:off x="10856685" y="1271646"/>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flipV="1">
                <a:off x="10660741" y="2286454"/>
                <a:ext cx="0" cy="1856011"/>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flipV="1">
                <a:off x="11219544" y="195317"/>
                <a:ext cx="0" cy="2152657"/>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flipV="1">
                <a:off x="11023601" y="2372027"/>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flipV="1">
                <a:off x="11350172" y="265828"/>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flipV="1">
                <a:off x="11350172" y="2111404"/>
                <a:ext cx="0" cy="1524979"/>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V="1">
                <a:off x="11575142" y="1886007"/>
                <a:ext cx="0" cy="923934"/>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flipV="1">
                <a:off x="11720284" y="144014"/>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V="1">
                <a:off x="11575142" y="611399"/>
                <a:ext cx="0" cy="1127625"/>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flipV="1">
                <a:off x="11952514" y="243045"/>
                <a:ext cx="0" cy="1967390"/>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flipV="1">
                <a:off x="11734798" y="2237228"/>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V="1">
                <a:off x="11560625" y="2863918"/>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V="1">
                <a:off x="10421256" y="3424303"/>
                <a:ext cx="0" cy="1200147"/>
              </a:xfrm>
              <a:prstGeom prst="line">
                <a:avLst/>
              </a:prstGeom>
              <a:ln>
                <a:gradFill flip="none" rotWithShape="1">
                  <a:gsLst>
                    <a:gs pos="54900">
                      <a:srgbClr val="0033CC"/>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87" name="Oval 186"/>
              <p:cNvSpPr/>
              <p:nvPr/>
            </p:nvSpPr>
            <p:spPr>
              <a:xfrm>
                <a:off x="572845" y="36922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8" name="Oval 187"/>
              <p:cNvSpPr/>
              <p:nvPr/>
            </p:nvSpPr>
            <p:spPr>
              <a:xfrm>
                <a:off x="798886" y="298250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9" name="Oval 188"/>
              <p:cNvSpPr/>
              <p:nvPr/>
            </p:nvSpPr>
            <p:spPr>
              <a:xfrm>
                <a:off x="1010105" y="215168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0" name="Oval 189"/>
              <p:cNvSpPr/>
              <p:nvPr/>
            </p:nvSpPr>
            <p:spPr>
              <a:xfrm>
                <a:off x="1161144" y="410182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1" name="Oval 190"/>
              <p:cNvSpPr/>
              <p:nvPr/>
            </p:nvSpPr>
            <p:spPr>
              <a:xfrm>
                <a:off x="1359648" y="378225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2" name="Oval 191"/>
              <p:cNvSpPr/>
              <p:nvPr/>
            </p:nvSpPr>
            <p:spPr>
              <a:xfrm>
                <a:off x="1913708" y="275438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93" name="Straight Connector 192"/>
              <p:cNvCxnSpPr/>
              <p:nvPr/>
            </p:nvCxnSpPr>
            <p:spPr>
              <a:xfrm flipV="1">
                <a:off x="1230599" y="40449"/>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94" name="Oval 193"/>
              <p:cNvSpPr/>
              <p:nvPr/>
            </p:nvSpPr>
            <p:spPr>
              <a:xfrm>
                <a:off x="1193330" y="137860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5" name="Oval 194"/>
              <p:cNvSpPr/>
              <p:nvPr/>
            </p:nvSpPr>
            <p:spPr>
              <a:xfrm>
                <a:off x="1689805" y="170107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6" name="Oval 195"/>
              <p:cNvSpPr/>
              <p:nvPr/>
            </p:nvSpPr>
            <p:spPr>
              <a:xfrm>
                <a:off x="2196735" y="240272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7" name="Oval 196"/>
              <p:cNvSpPr/>
              <p:nvPr/>
            </p:nvSpPr>
            <p:spPr>
              <a:xfrm>
                <a:off x="2569024" y="284872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8" name="Oval 197"/>
              <p:cNvSpPr/>
              <p:nvPr/>
            </p:nvSpPr>
            <p:spPr>
              <a:xfrm>
                <a:off x="2704735" y="247261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9" name="Oval 198"/>
              <p:cNvSpPr/>
              <p:nvPr/>
            </p:nvSpPr>
            <p:spPr>
              <a:xfrm>
                <a:off x="2432377" y="151508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0" name="Oval 199"/>
              <p:cNvSpPr/>
              <p:nvPr/>
            </p:nvSpPr>
            <p:spPr>
              <a:xfrm>
                <a:off x="2929706" y="125478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1" name="Oval 200"/>
              <p:cNvSpPr/>
              <p:nvPr/>
            </p:nvSpPr>
            <p:spPr>
              <a:xfrm>
                <a:off x="3050902" y="227580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2" name="Oval 201"/>
              <p:cNvSpPr/>
              <p:nvPr/>
            </p:nvSpPr>
            <p:spPr>
              <a:xfrm>
                <a:off x="3209190" y="249046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3" name="Oval 202"/>
              <p:cNvSpPr/>
              <p:nvPr/>
            </p:nvSpPr>
            <p:spPr>
              <a:xfrm>
                <a:off x="3222171" y="379439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4" name="Oval 203"/>
              <p:cNvSpPr/>
              <p:nvPr/>
            </p:nvSpPr>
            <p:spPr>
              <a:xfrm>
                <a:off x="3050902" y="473140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5" name="Oval 204"/>
              <p:cNvSpPr/>
              <p:nvPr/>
            </p:nvSpPr>
            <p:spPr>
              <a:xfrm>
                <a:off x="2705931" y="468439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6" name="Oval 205"/>
              <p:cNvSpPr/>
              <p:nvPr/>
            </p:nvSpPr>
            <p:spPr>
              <a:xfrm>
                <a:off x="2180047" y="446646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7" name="Oval 206"/>
              <p:cNvSpPr/>
              <p:nvPr/>
            </p:nvSpPr>
            <p:spPr>
              <a:xfrm>
                <a:off x="1681011" y="420238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8" name="Oval 207"/>
              <p:cNvSpPr/>
              <p:nvPr/>
            </p:nvSpPr>
            <p:spPr>
              <a:xfrm>
                <a:off x="2428965" y="406702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9" name="Oval 208"/>
              <p:cNvSpPr/>
              <p:nvPr/>
            </p:nvSpPr>
            <p:spPr>
              <a:xfrm>
                <a:off x="1902098" y="432372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0" name="Oval 209"/>
              <p:cNvSpPr/>
              <p:nvPr/>
            </p:nvSpPr>
            <p:spPr>
              <a:xfrm>
                <a:off x="2869470" y="379439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1" name="Oval 210"/>
              <p:cNvSpPr/>
              <p:nvPr/>
            </p:nvSpPr>
            <p:spPr>
              <a:xfrm>
                <a:off x="2936963" y="265622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2" name="Oval 211"/>
              <p:cNvSpPr/>
              <p:nvPr/>
            </p:nvSpPr>
            <p:spPr>
              <a:xfrm>
                <a:off x="3430280" y="150207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3" name="Oval 212"/>
              <p:cNvSpPr/>
              <p:nvPr/>
            </p:nvSpPr>
            <p:spPr>
              <a:xfrm>
                <a:off x="3664857" y="112770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4" name="Oval 213"/>
              <p:cNvSpPr/>
              <p:nvPr/>
            </p:nvSpPr>
            <p:spPr>
              <a:xfrm>
                <a:off x="4001588" y="204648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5" name="Oval 214"/>
              <p:cNvSpPr/>
              <p:nvPr/>
            </p:nvSpPr>
            <p:spPr>
              <a:xfrm>
                <a:off x="3724449" y="292145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6" name="Oval 215"/>
              <p:cNvSpPr/>
              <p:nvPr/>
            </p:nvSpPr>
            <p:spPr>
              <a:xfrm>
                <a:off x="3587931" y="31289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7" name="Oval 216"/>
              <p:cNvSpPr/>
              <p:nvPr/>
            </p:nvSpPr>
            <p:spPr>
              <a:xfrm>
                <a:off x="3998687" y="388593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8" name="Oval 217"/>
              <p:cNvSpPr/>
              <p:nvPr/>
            </p:nvSpPr>
            <p:spPr>
              <a:xfrm>
                <a:off x="3424690" y="411525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9" name="Oval 218"/>
              <p:cNvSpPr/>
              <p:nvPr/>
            </p:nvSpPr>
            <p:spPr>
              <a:xfrm>
                <a:off x="3582465" y="432372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0" name="Oval 219"/>
              <p:cNvSpPr/>
              <p:nvPr/>
            </p:nvSpPr>
            <p:spPr>
              <a:xfrm>
                <a:off x="3728978" y="447022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1" name="Oval 220"/>
              <p:cNvSpPr/>
              <p:nvPr/>
            </p:nvSpPr>
            <p:spPr>
              <a:xfrm>
                <a:off x="4306387" y="41026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2" name="Oval 221"/>
              <p:cNvSpPr/>
              <p:nvPr/>
            </p:nvSpPr>
            <p:spPr>
              <a:xfrm>
                <a:off x="4526283" y="453890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3" name="Oval 222"/>
              <p:cNvSpPr/>
              <p:nvPr/>
            </p:nvSpPr>
            <p:spPr>
              <a:xfrm>
                <a:off x="4681584" y="485413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4" name="Oval 223"/>
              <p:cNvSpPr/>
              <p:nvPr/>
            </p:nvSpPr>
            <p:spPr>
              <a:xfrm>
                <a:off x="5023395" y="489477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5" name="Oval 224"/>
              <p:cNvSpPr/>
              <p:nvPr/>
            </p:nvSpPr>
            <p:spPr>
              <a:xfrm>
                <a:off x="4751506" y="407117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6" name="Oval 225"/>
              <p:cNvSpPr/>
              <p:nvPr/>
            </p:nvSpPr>
            <p:spPr>
              <a:xfrm>
                <a:off x="4850670" y="398876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7" name="Oval 226"/>
              <p:cNvSpPr/>
              <p:nvPr/>
            </p:nvSpPr>
            <p:spPr>
              <a:xfrm>
                <a:off x="4959527" y="332314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8" name="Oval 227"/>
              <p:cNvSpPr/>
              <p:nvPr/>
            </p:nvSpPr>
            <p:spPr>
              <a:xfrm>
                <a:off x="4918162" y="285464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9" name="Oval 228"/>
              <p:cNvSpPr/>
              <p:nvPr/>
            </p:nvSpPr>
            <p:spPr>
              <a:xfrm>
                <a:off x="4564742" y="304764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0" name="Oval 229"/>
              <p:cNvSpPr/>
              <p:nvPr/>
            </p:nvSpPr>
            <p:spPr>
              <a:xfrm>
                <a:off x="4324535" y="244575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1" name="Oval 230"/>
              <p:cNvSpPr/>
              <p:nvPr/>
            </p:nvSpPr>
            <p:spPr>
              <a:xfrm>
                <a:off x="4132216" y="240909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2" name="Oval 231"/>
              <p:cNvSpPr/>
              <p:nvPr/>
            </p:nvSpPr>
            <p:spPr>
              <a:xfrm>
                <a:off x="4531359" y="118183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3" name="Oval 232"/>
              <p:cNvSpPr/>
              <p:nvPr/>
            </p:nvSpPr>
            <p:spPr>
              <a:xfrm>
                <a:off x="5634526" y="133159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4" name="Oval 233"/>
              <p:cNvSpPr/>
              <p:nvPr/>
            </p:nvSpPr>
            <p:spPr>
              <a:xfrm>
                <a:off x="5672908" y="163894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5" name="Oval 234"/>
              <p:cNvSpPr/>
              <p:nvPr/>
            </p:nvSpPr>
            <p:spPr>
              <a:xfrm>
                <a:off x="5985860" y="221836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6" name="Oval 235"/>
              <p:cNvSpPr/>
              <p:nvPr/>
            </p:nvSpPr>
            <p:spPr>
              <a:xfrm>
                <a:off x="6104363" y="257042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7" name="Oval 236"/>
              <p:cNvSpPr/>
              <p:nvPr/>
            </p:nvSpPr>
            <p:spPr>
              <a:xfrm>
                <a:off x="6050279" y="213223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8" name="Oval 237"/>
              <p:cNvSpPr/>
              <p:nvPr/>
            </p:nvSpPr>
            <p:spPr>
              <a:xfrm>
                <a:off x="5823131" y="203360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9" name="Oval 238"/>
              <p:cNvSpPr/>
              <p:nvPr/>
            </p:nvSpPr>
            <p:spPr>
              <a:xfrm>
                <a:off x="5429068" y="169611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0" name="Oval 239"/>
              <p:cNvSpPr/>
              <p:nvPr/>
            </p:nvSpPr>
            <p:spPr>
              <a:xfrm>
                <a:off x="5319484" y="225899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1" name="Oval 240"/>
              <p:cNvSpPr/>
              <p:nvPr/>
            </p:nvSpPr>
            <p:spPr>
              <a:xfrm>
                <a:off x="5124269" y="213860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2" name="Oval 241"/>
              <p:cNvSpPr/>
              <p:nvPr/>
            </p:nvSpPr>
            <p:spPr>
              <a:xfrm>
                <a:off x="5026550" y="244336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3" name="Oval 242"/>
              <p:cNvSpPr/>
              <p:nvPr/>
            </p:nvSpPr>
            <p:spPr>
              <a:xfrm>
                <a:off x="4912401" y="144517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4" name="Oval 243"/>
              <p:cNvSpPr/>
              <p:nvPr/>
            </p:nvSpPr>
            <p:spPr>
              <a:xfrm>
                <a:off x="4969566" y="116579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5" name="Oval 244"/>
              <p:cNvSpPr/>
              <p:nvPr/>
            </p:nvSpPr>
            <p:spPr>
              <a:xfrm>
                <a:off x="6500223" y="135993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6" name="Oval 245"/>
              <p:cNvSpPr/>
              <p:nvPr/>
            </p:nvSpPr>
            <p:spPr>
              <a:xfrm>
                <a:off x="6939153" y="134512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7" name="Oval 246"/>
              <p:cNvSpPr/>
              <p:nvPr/>
            </p:nvSpPr>
            <p:spPr>
              <a:xfrm>
                <a:off x="6743764" y="232454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8" name="Oval 247"/>
              <p:cNvSpPr/>
              <p:nvPr/>
            </p:nvSpPr>
            <p:spPr>
              <a:xfrm>
                <a:off x="6495144" y="338486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9" name="Oval 248"/>
              <p:cNvSpPr/>
              <p:nvPr/>
            </p:nvSpPr>
            <p:spPr>
              <a:xfrm>
                <a:off x="6275252" y="430520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0" name="Oval 249"/>
              <p:cNvSpPr/>
              <p:nvPr/>
            </p:nvSpPr>
            <p:spPr>
              <a:xfrm>
                <a:off x="5979886" y="407461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1" name="Oval 250"/>
              <p:cNvSpPr/>
              <p:nvPr/>
            </p:nvSpPr>
            <p:spPr>
              <a:xfrm>
                <a:off x="5403672" y="430520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2" name="Oval 251"/>
              <p:cNvSpPr/>
              <p:nvPr/>
            </p:nvSpPr>
            <p:spPr>
              <a:xfrm>
                <a:off x="5571314" y="449826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3" name="Oval 252"/>
              <p:cNvSpPr/>
              <p:nvPr/>
            </p:nvSpPr>
            <p:spPr>
              <a:xfrm>
                <a:off x="5704840" y="46717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4" name="Oval 253"/>
              <p:cNvSpPr/>
              <p:nvPr/>
            </p:nvSpPr>
            <p:spPr>
              <a:xfrm>
                <a:off x="5467532" y="355084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5" name="Oval 254"/>
              <p:cNvSpPr/>
              <p:nvPr/>
            </p:nvSpPr>
            <p:spPr>
              <a:xfrm>
                <a:off x="4697485" y="267371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6" name="Oval 255"/>
              <p:cNvSpPr/>
              <p:nvPr/>
            </p:nvSpPr>
            <p:spPr>
              <a:xfrm>
                <a:off x="4765762" y="215488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7" name="Oval 256"/>
              <p:cNvSpPr/>
              <p:nvPr/>
            </p:nvSpPr>
            <p:spPr>
              <a:xfrm>
                <a:off x="6297292" y="265169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8" name="Oval 257"/>
              <p:cNvSpPr/>
              <p:nvPr/>
            </p:nvSpPr>
            <p:spPr>
              <a:xfrm>
                <a:off x="7666444" y="291337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9" name="Oval 258"/>
              <p:cNvSpPr/>
              <p:nvPr/>
            </p:nvSpPr>
            <p:spPr>
              <a:xfrm>
                <a:off x="7750889" y="269233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0" name="Oval 259"/>
              <p:cNvSpPr/>
              <p:nvPr/>
            </p:nvSpPr>
            <p:spPr>
              <a:xfrm>
                <a:off x="7587637" y="245012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1" name="Oval 260"/>
              <p:cNvSpPr/>
              <p:nvPr/>
            </p:nvSpPr>
            <p:spPr>
              <a:xfrm>
                <a:off x="7252787" y="267397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2" name="Oval 261"/>
              <p:cNvSpPr/>
              <p:nvPr/>
            </p:nvSpPr>
            <p:spPr>
              <a:xfrm>
                <a:off x="6928396" y="353030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3" name="Oval 262"/>
              <p:cNvSpPr/>
              <p:nvPr/>
            </p:nvSpPr>
            <p:spPr>
              <a:xfrm>
                <a:off x="7114516" y="398876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4" name="Oval 263"/>
              <p:cNvSpPr/>
              <p:nvPr/>
            </p:nvSpPr>
            <p:spPr>
              <a:xfrm>
                <a:off x="6748074" y="422973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5" name="Oval 264"/>
              <p:cNvSpPr/>
              <p:nvPr/>
            </p:nvSpPr>
            <p:spPr>
              <a:xfrm>
                <a:off x="6503123" y="473140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6" name="Oval 265"/>
              <p:cNvSpPr/>
              <p:nvPr/>
            </p:nvSpPr>
            <p:spPr>
              <a:xfrm>
                <a:off x="7252787" y="486202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7" name="Oval 266"/>
              <p:cNvSpPr/>
              <p:nvPr/>
            </p:nvSpPr>
            <p:spPr>
              <a:xfrm>
                <a:off x="7587637" y="491163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8" name="Oval 267"/>
              <p:cNvSpPr/>
              <p:nvPr/>
            </p:nvSpPr>
            <p:spPr>
              <a:xfrm>
                <a:off x="7412055" y="400925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9" name="Oval 268"/>
              <p:cNvSpPr/>
              <p:nvPr/>
            </p:nvSpPr>
            <p:spPr>
              <a:xfrm>
                <a:off x="7435667" y="374161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0" name="Oval 269"/>
              <p:cNvSpPr/>
              <p:nvPr/>
            </p:nvSpPr>
            <p:spPr>
              <a:xfrm>
                <a:off x="7481387" y="283800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1" name="Oval 270"/>
              <p:cNvSpPr/>
              <p:nvPr/>
            </p:nvSpPr>
            <p:spPr>
              <a:xfrm>
                <a:off x="7649879" y="183182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2" name="Oval 271"/>
              <p:cNvSpPr/>
              <p:nvPr/>
            </p:nvSpPr>
            <p:spPr>
              <a:xfrm>
                <a:off x="7474132" y="148581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3" name="Oval 272"/>
              <p:cNvSpPr/>
              <p:nvPr/>
            </p:nvSpPr>
            <p:spPr>
              <a:xfrm>
                <a:off x="7292535" y="243929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4" name="Oval 273"/>
              <p:cNvSpPr/>
              <p:nvPr/>
            </p:nvSpPr>
            <p:spPr>
              <a:xfrm>
                <a:off x="7815940" y="353795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5" name="Oval 274"/>
              <p:cNvSpPr/>
              <p:nvPr/>
            </p:nvSpPr>
            <p:spPr>
              <a:xfrm>
                <a:off x="7774914" y="397766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6" name="Oval 275"/>
              <p:cNvSpPr/>
              <p:nvPr/>
            </p:nvSpPr>
            <p:spPr>
              <a:xfrm>
                <a:off x="7644678" y="414846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7" name="Oval 276"/>
              <p:cNvSpPr/>
              <p:nvPr/>
            </p:nvSpPr>
            <p:spPr>
              <a:xfrm>
                <a:off x="7972951" y="431157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8" name="Oval 277"/>
              <p:cNvSpPr/>
              <p:nvPr/>
            </p:nvSpPr>
            <p:spPr>
              <a:xfrm>
                <a:off x="8125825" y="451622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9" name="Oval 278"/>
              <p:cNvSpPr/>
              <p:nvPr/>
            </p:nvSpPr>
            <p:spPr>
              <a:xfrm>
                <a:off x="8263710" y="46717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0" name="Oval 279"/>
              <p:cNvSpPr/>
              <p:nvPr/>
            </p:nvSpPr>
            <p:spPr>
              <a:xfrm>
                <a:off x="8546736" y="410766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1" name="Oval 280"/>
              <p:cNvSpPr/>
              <p:nvPr/>
            </p:nvSpPr>
            <p:spPr>
              <a:xfrm>
                <a:off x="8834420" y="435275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2" name="Oval 281"/>
              <p:cNvSpPr/>
              <p:nvPr/>
            </p:nvSpPr>
            <p:spPr>
              <a:xfrm>
                <a:off x="9061994" y="474928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3" name="Oval 282"/>
              <p:cNvSpPr/>
              <p:nvPr/>
            </p:nvSpPr>
            <p:spPr>
              <a:xfrm>
                <a:off x="9312964" y="427093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4" name="Oval 283"/>
              <p:cNvSpPr/>
              <p:nvPr/>
            </p:nvSpPr>
            <p:spPr>
              <a:xfrm>
                <a:off x="9671594" y="402638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5" name="Oval 284"/>
              <p:cNvSpPr/>
              <p:nvPr/>
            </p:nvSpPr>
            <p:spPr>
              <a:xfrm>
                <a:off x="9492340" y="353505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6" name="Oval 285"/>
              <p:cNvSpPr/>
              <p:nvPr/>
            </p:nvSpPr>
            <p:spPr>
              <a:xfrm>
                <a:off x="9071986" y="338989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7" name="Oval 286"/>
              <p:cNvSpPr/>
              <p:nvPr/>
            </p:nvSpPr>
            <p:spPr>
              <a:xfrm>
                <a:off x="8270115" y="313537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8" name="Oval 287"/>
              <p:cNvSpPr/>
              <p:nvPr/>
            </p:nvSpPr>
            <p:spPr>
              <a:xfrm>
                <a:off x="8145452" y="332607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9" name="Oval 288"/>
              <p:cNvSpPr/>
              <p:nvPr/>
            </p:nvSpPr>
            <p:spPr>
              <a:xfrm>
                <a:off x="8035111" y="232701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0" name="Oval 289"/>
              <p:cNvSpPr/>
              <p:nvPr/>
            </p:nvSpPr>
            <p:spPr>
              <a:xfrm>
                <a:off x="7794683" y="221198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1" name="Oval 290"/>
              <p:cNvSpPr/>
              <p:nvPr/>
            </p:nvSpPr>
            <p:spPr>
              <a:xfrm>
                <a:off x="8200569" y="132280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2" name="Oval 291"/>
              <p:cNvSpPr/>
              <p:nvPr/>
            </p:nvSpPr>
            <p:spPr>
              <a:xfrm>
                <a:off x="8546097" y="221836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3" name="Oval 292"/>
              <p:cNvSpPr/>
              <p:nvPr/>
            </p:nvSpPr>
            <p:spPr>
              <a:xfrm>
                <a:off x="8853713" y="2662114"/>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4" name="Oval 293"/>
              <p:cNvSpPr/>
              <p:nvPr/>
            </p:nvSpPr>
            <p:spPr>
              <a:xfrm>
                <a:off x="9301479" y="233781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5" name="Oval 294"/>
              <p:cNvSpPr/>
              <p:nvPr/>
            </p:nvSpPr>
            <p:spPr>
              <a:xfrm>
                <a:off x="9876975" y="244973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6" name="Oval 295"/>
              <p:cNvSpPr/>
              <p:nvPr/>
            </p:nvSpPr>
            <p:spPr>
              <a:xfrm>
                <a:off x="9659771" y="233781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7" name="Oval 296"/>
              <p:cNvSpPr/>
              <p:nvPr/>
            </p:nvSpPr>
            <p:spPr>
              <a:xfrm>
                <a:off x="9988731" y="190546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8" name="Oval 297"/>
              <p:cNvSpPr/>
              <p:nvPr/>
            </p:nvSpPr>
            <p:spPr>
              <a:xfrm>
                <a:off x="10210798" y="182888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9" name="Oval 298"/>
              <p:cNvSpPr/>
              <p:nvPr/>
            </p:nvSpPr>
            <p:spPr>
              <a:xfrm>
                <a:off x="10354213" y="221836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0" name="Oval 299"/>
              <p:cNvSpPr/>
              <p:nvPr/>
            </p:nvSpPr>
            <p:spPr>
              <a:xfrm>
                <a:off x="10588171" y="230945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1" name="Oval 300"/>
              <p:cNvSpPr/>
              <p:nvPr/>
            </p:nvSpPr>
            <p:spPr>
              <a:xfrm>
                <a:off x="10627365" y="218205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2" name="Oval 301"/>
              <p:cNvSpPr/>
              <p:nvPr/>
            </p:nvSpPr>
            <p:spPr>
              <a:xfrm>
                <a:off x="10977878" y="220091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3" name="Oval 302"/>
              <p:cNvSpPr/>
              <p:nvPr/>
            </p:nvSpPr>
            <p:spPr>
              <a:xfrm>
                <a:off x="11175798" y="230945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4" name="Oval 303"/>
              <p:cNvSpPr/>
              <p:nvPr/>
            </p:nvSpPr>
            <p:spPr>
              <a:xfrm>
                <a:off x="11312079" y="173674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5" name="Oval 304"/>
              <p:cNvSpPr/>
              <p:nvPr/>
            </p:nvSpPr>
            <p:spPr>
              <a:xfrm>
                <a:off x="10816042" y="122376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6" name="Oval 305"/>
              <p:cNvSpPr/>
              <p:nvPr/>
            </p:nvSpPr>
            <p:spPr>
              <a:xfrm>
                <a:off x="9497422" y="136641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7" name="Oval 306"/>
              <p:cNvSpPr/>
              <p:nvPr/>
            </p:nvSpPr>
            <p:spPr>
              <a:xfrm>
                <a:off x="9068881" y="137860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8" name="Oval 307"/>
              <p:cNvSpPr/>
              <p:nvPr/>
            </p:nvSpPr>
            <p:spPr>
              <a:xfrm>
                <a:off x="10380617" y="121434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9" name="Oval 308"/>
              <p:cNvSpPr/>
              <p:nvPr/>
            </p:nvSpPr>
            <p:spPr>
              <a:xfrm>
                <a:off x="11540926" y="170107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0" name="Oval 309"/>
              <p:cNvSpPr/>
              <p:nvPr/>
            </p:nvSpPr>
            <p:spPr>
              <a:xfrm>
                <a:off x="11906794" y="216027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1" name="Oval 310"/>
              <p:cNvSpPr/>
              <p:nvPr/>
            </p:nvSpPr>
            <p:spPr>
              <a:xfrm>
                <a:off x="11676743" y="206547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2" name="Oval 311"/>
              <p:cNvSpPr/>
              <p:nvPr/>
            </p:nvSpPr>
            <p:spPr>
              <a:xfrm>
                <a:off x="11538023" y="278372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3" name="Oval 312"/>
              <p:cNvSpPr/>
              <p:nvPr/>
            </p:nvSpPr>
            <p:spPr>
              <a:xfrm>
                <a:off x="11708800" y="339673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4" name="Oval 313"/>
              <p:cNvSpPr/>
              <p:nvPr/>
            </p:nvSpPr>
            <p:spPr>
              <a:xfrm>
                <a:off x="11514905" y="400396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5" name="Oval 314"/>
              <p:cNvSpPr/>
              <p:nvPr/>
            </p:nvSpPr>
            <p:spPr>
              <a:xfrm>
                <a:off x="11314936" y="359147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6" name="Oval 315"/>
              <p:cNvSpPr/>
              <p:nvPr/>
            </p:nvSpPr>
            <p:spPr>
              <a:xfrm>
                <a:off x="10973523" y="386169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7" name="Oval 316"/>
              <p:cNvSpPr/>
              <p:nvPr/>
            </p:nvSpPr>
            <p:spPr>
              <a:xfrm>
                <a:off x="10615021" y="410638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8" name="Oval 317"/>
              <p:cNvSpPr/>
              <p:nvPr/>
            </p:nvSpPr>
            <p:spPr>
              <a:xfrm>
                <a:off x="10197657" y="417197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9" name="Oval 318"/>
              <p:cNvSpPr/>
              <p:nvPr/>
            </p:nvSpPr>
            <p:spPr>
              <a:xfrm>
                <a:off x="9997439" y="3748502"/>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0" name="Oval 319"/>
              <p:cNvSpPr/>
              <p:nvPr/>
            </p:nvSpPr>
            <p:spPr>
              <a:xfrm>
                <a:off x="10395258" y="339673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1" name="Oval 320"/>
              <p:cNvSpPr/>
              <p:nvPr/>
            </p:nvSpPr>
            <p:spPr>
              <a:xfrm>
                <a:off x="10378789" y="460190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2" name="Oval 321"/>
              <p:cNvSpPr/>
              <p:nvPr/>
            </p:nvSpPr>
            <p:spPr>
              <a:xfrm>
                <a:off x="10810965" y="337939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3" name="Oval 322"/>
              <p:cNvSpPr/>
              <p:nvPr/>
            </p:nvSpPr>
            <p:spPr>
              <a:xfrm>
                <a:off x="10212251" y="2916897"/>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24" name="Straight Connector 323"/>
              <p:cNvCxnSpPr/>
              <p:nvPr/>
            </p:nvCxnSpPr>
            <p:spPr>
              <a:xfrm flipV="1">
                <a:off x="152656" y="-16514"/>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25" name="Straight Connector 324"/>
              <p:cNvCxnSpPr/>
              <p:nvPr/>
            </p:nvCxnSpPr>
            <p:spPr>
              <a:xfrm flipV="1">
                <a:off x="1552686" y="38940"/>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26" name="Straight Connector 325"/>
              <p:cNvCxnSpPr/>
              <p:nvPr/>
            </p:nvCxnSpPr>
            <p:spPr>
              <a:xfrm flipV="1">
                <a:off x="1551745" y="2081392"/>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27" name="Straight Connector 326"/>
              <p:cNvCxnSpPr/>
              <p:nvPr/>
            </p:nvCxnSpPr>
            <p:spPr>
              <a:xfrm flipV="1">
                <a:off x="740830" y="394132"/>
                <a:ext cx="0" cy="1361635"/>
              </a:xfrm>
              <a:prstGeom prst="line">
                <a:avLst/>
              </a:prstGeom>
              <a:ln>
                <a:gradFill flip="none" rotWithShape="1">
                  <a:gsLst>
                    <a:gs pos="54900">
                      <a:srgbClr val="00FFFF"/>
                    </a:gs>
                    <a:gs pos="0">
                      <a:schemeClr val="bg1"/>
                    </a:gs>
                    <a:gs pos="100000">
                      <a:srgbClr val="011238"/>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328" name="Oval 327"/>
              <p:cNvSpPr/>
              <p:nvPr/>
            </p:nvSpPr>
            <p:spPr>
              <a:xfrm>
                <a:off x="690490" y="1729015"/>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9" name="Oval 328"/>
              <p:cNvSpPr/>
              <p:nvPr/>
            </p:nvSpPr>
            <p:spPr>
              <a:xfrm>
                <a:off x="107012" y="13218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0" name="Oval 329"/>
              <p:cNvSpPr/>
              <p:nvPr/>
            </p:nvSpPr>
            <p:spPr>
              <a:xfrm>
                <a:off x="1499625" y="137860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1" name="Oval 330"/>
              <p:cNvSpPr/>
              <p:nvPr/>
            </p:nvSpPr>
            <p:spPr>
              <a:xfrm>
                <a:off x="4515685" y="3169389"/>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2" name="Oval 331"/>
              <p:cNvSpPr/>
              <p:nvPr/>
            </p:nvSpPr>
            <p:spPr>
              <a:xfrm>
                <a:off x="5683794" y="272157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3" name="Oval 332"/>
              <p:cNvSpPr/>
              <p:nvPr/>
            </p:nvSpPr>
            <p:spPr>
              <a:xfrm>
                <a:off x="5703388" y="311490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4" name="Oval 333"/>
              <p:cNvSpPr/>
              <p:nvPr/>
            </p:nvSpPr>
            <p:spPr>
              <a:xfrm>
                <a:off x="5833130" y="335671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5" name="Oval 334"/>
              <p:cNvSpPr/>
              <p:nvPr/>
            </p:nvSpPr>
            <p:spPr>
              <a:xfrm>
                <a:off x="5558188" y="328211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6" name="Oval 335"/>
              <p:cNvSpPr/>
              <p:nvPr/>
            </p:nvSpPr>
            <p:spPr>
              <a:xfrm>
                <a:off x="5660715" y="3994688"/>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7" name="Oval 336"/>
              <p:cNvSpPr/>
              <p:nvPr/>
            </p:nvSpPr>
            <p:spPr>
              <a:xfrm>
                <a:off x="5222240" y="3989873"/>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8" name="Oval 337"/>
              <p:cNvSpPr/>
              <p:nvPr/>
            </p:nvSpPr>
            <p:spPr>
              <a:xfrm>
                <a:off x="5114195" y="3815730"/>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9" name="Oval 338"/>
              <p:cNvSpPr/>
              <p:nvPr/>
            </p:nvSpPr>
            <p:spPr>
              <a:xfrm>
                <a:off x="5194911" y="2661776"/>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0" name="Oval 339"/>
              <p:cNvSpPr/>
              <p:nvPr/>
            </p:nvSpPr>
            <p:spPr>
              <a:xfrm>
                <a:off x="1507598" y="341529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1" name="Oval 340"/>
              <p:cNvSpPr/>
              <p:nvPr/>
            </p:nvSpPr>
            <p:spPr>
              <a:xfrm>
                <a:off x="2314009" y="2555181"/>
                <a:ext cx="91440" cy="81276"/>
              </a:xfrm>
              <a:prstGeom prst="ellipse">
                <a:avLst/>
              </a:prstGeom>
              <a:gradFill>
                <a:gsLst>
                  <a:gs pos="41000">
                    <a:schemeClr val="bg1"/>
                  </a:gs>
                  <a:gs pos="72000">
                    <a:srgbClr val="011238">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4" name="TextBox 3"/>
            <p:cNvSpPr txBox="1"/>
            <p:nvPr/>
          </p:nvSpPr>
          <p:spPr>
            <a:xfrm>
              <a:off x="2037861" y="4874231"/>
              <a:ext cx="5210452" cy="553998"/>
            </a:xfrm>
            <a:prstGeom prst="rect">
              <a:avLst/>
            </a:prstGeom>
            <a:noFill/>
          </p:spPr>
          <p:txBody>
            <a:bodyPr wrap="square" rtlCol="0">
              <a:spAutoFit/>
            </a:bodyPr>
            <a:lstStyle/>
            <a:p>
              <a:pPr algn="ctr"/>
              <a:r>
                <a:rPr lang="en-US" sz="3000" b="1" dirty="0">
                  <a:solidFill>
                    <a:schemeClr val="bg1"/>
                  </a:solidFill>
                  <a:latin typeface="Century Gothic" panose="020B0502020202020204" pitchFamily="34" charset="0"/>
                </a:rPr>
                <a:t> CLOUD COMPUTING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ppt_x"/>
                                          </p:val>
                                        </p:tav>
                                        <p:tav tm="100000">
                                          <p:val>
                                            <p:strVal val="#ppt_x"/>
                                          </p:val>
                                        </p:tav>
                                      </p:tavLst>
                                    </p:anim>
                                    <p:anim calcmode="lin" valueType="num">
                                      <p:cBhvr additive="base">
                                        <p:cTn id="8" dur="25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1520" y="1201209"/>
            <a:ext cx="8466853" cy="5396143"/>
            <a:chOff x="-122824" y="1201209"/>
            <a:chExt cx="8828747" cy="5721393"/>
          </a:xfrm>
        </p:grpSpPr>
        <p:sp>
          <p:nvSpPr>
            <p:cNvPr id="10" name="Rectangle 9"/>
            <p:cNvSpPr/>
            <p:nvPr/>
          </p:nvSpPr>
          <p:spPr>
            <a:xfrm rot="10800000">
              <a:off x="4443412" y="2919687"/>
              <a:ext cx="4262511" cy="4002915"/>
            </a:xfrm>
            <a:prstGeom prst="rect">
              <a:avLst/>
            </a:prstGeom>
            <a:gradFill flip="none" rotWithShape="1">
              <a:gsLst>
                <a:gs pos="1000">
                  <a:schemeClr val="accent1">
                    <a:lumMod val="5000"/>
                    <a:lumOff val="95000"/>
                    <a:alpha val="0"/>
                  </a:schemeClr>
                </a:gs>
                <a:gs pos="46000">
                  <a:srgbClr val="9E9B9C">
                    <a:alpha val="29000"/>
                  </a:srgbClr>
                </a:gs>
                <a:gs pos="100000">
                  <a:schemeClr val="bg2">
                    <a:lumMod val="50000"/>
                    <a:alpha val="48000"/>
                  </a:schemeClr>
                </a:gs>
              </a:gsLst>
              <a:lin ang="0" scaled="1"/>
              <a:tileRect/>
            </a:gradFill>
            <a:ln>
              <a:noFill/>
            </a:ln>
            <a:scene3d>
              <a:camera prst="isometricBottom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9" name="Group 8"/>
            <p:cNvGrpSpPr/>
            <p:nvPr/>
          </p:nvGrpSpPr>
          <p:grpSpPr>
            <a:xfrm rot="10800000">
              <a:off x="3360047" y="1649810"/>
              <a:ext cx="2166731" cy="3906078"/>
              <a:chOff x="2186609" y="824948"/>
              <a:chExt cx="3207026" cy="5208104"/>
            </a:xfrm>
            <a:scene3d>
              <a:camera prst="isometricBottomDown"/>
              <a:lightRig rig="flat" dir="t"/>
            </a:scene3d>
          </p:grpSpPr>
          <p:sp>
            <p:nvSpPr>
              <p:cNvPr id="4" name="Rectangle: Rounded Corners 3"/>
              <p:cNvSpPr/>
              <p:nvPr/>
            </p:nvSpPr>
            <p:spPr>
              <a:xfrm>
                <a:off x="2186609" y="824948"/>
                <a:ext cx="3207026" cy="5208104"/>
              </a:xfrm>
              <a:prstGeom prst="roundRect">
                <a:avLst>
                  <a:gd name="adj" fmla="val 3858"/>
                </a:avLst>
              </a:prstGeom>
              <a:solidFill>
                <a:schemeClr val="tx2">
                  <a:lumMod val="75000"/>
                </a:schemeClr>
              </a:solidFill>
              <a:ln>
                <a:noFill/>
              </a:ln>
              <a:sp3d extrusionH="165100"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Freeform: Shape 6"/>
              <p:cNvSpPr/>
              <p:nvPr/>
            </p:nvSpPr>
            <p:spPr>
              <a:xfrm>
                <a:off x="2286000" y="913519"/>
                <a:ext cx="3008243" cy="4765921"/>
              </a:xfrm>
              <a:custGeom>
                <a:avLst/>
                <a:gdLst>
                  <a:gd name="connsiteX0" fmla="*/ 79508 w 3008243"/>
                  <a:gd name="connsiteY0" fmla="*/ 0 h 4765921"/>
                  <a:gd name="connsiteX1" fmla="*/ 1222529 w 3008243"/>
                  <a:gd name="connsiteY1" fmla="*/ 0 h 4765921"/>
                  <a:gd name="connsiteX2" fmla="*/ 1223037 w 3008243"/>
                  <a:gd name="connsiteY2" fmla="*/ 6749 h 4765921"/>
                  <a:gd name="connsiteX3" fmla="*/ 1408044 w 3008243"/>
                  <a:gd name="connsiteY3" fmla="*/ 208943 h 4765921"/>
                  <a:gd name="connsiteX4" fmla="*/ 1593051 w 3008243"/>
                  <a:gd name="connsiteY4" fmla="*/ 6749 h 4765921"/>
                  <a:gd name="connsiteX5" fmla="*/ 1593559 w 3008243"/>
                  <a:gd name="connsiteY5" fmla="*/ 0 h 4765921"/>
                  <a:gd name="connsiteX6" fmla="*/ 2928735 w 3008243"/>
                  <a:gd name="connsiteY6" fmla="*/ 0 h 4765921"/>
                  <a:gd name="connsiteX7" fmla="*/ 3008243 w 3008243"/>
                  <a:gd name="connsiteY7" fmla="*/ 79508 h 4765921"/>
                  <a:gd name="connsiteX8" fmla="*/ 3008243 w 3008243"/>
                  <a:gd name="connsiteY8" fmla="*/ 4686413 h 4765921"/>
                  <a:gd name="connsiteX9" fmla="*/ 2928735 w 3008243"/>
                  <a:gd name="connsiteY9" fmla="*/ 4765921 h 4765921"/>
                  <a:gd name="connsiteX10" fmla="*/ 79508 w 3008243"/>
                  <a:gd name="connsiteY10" fmla="*/ 4765921 h 4765921"/>
                  <a:gd name="connsiteX11" fmla="*/ 0 w 3008243"/>
                  <a:gd name="connsiteY11" fmla="*/ 4686413 h 4765921"/>
                  <a:gd name="connsiteX12" fmla="*/ 0 w 3008243"/>
                  <a:gd name="connsiteY12" fmla="*/ 79508 h 4765921"/>
                  <a:gd name="connsiteX13" fmla="*/ 79508 w 3008243"/>
                  <a:gd name="connsiteY13" fmla="*/ 0 h 476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08243" h="4765921">
                    <a:moveTo>
                      <a:pt x="79508" y="0"/>
                    </a:moveTo>
                    <a:lnTo>
                      <a:pt x="1222529" y="0"/>
                    </a:lnTo>
                    <a:lnTo>
                      <a:pt x="1223037" y="6749"/>
                    </a:lnTo>
                    <a:cubicBezTo>
                      <a:pt x="1240646" y="122141"/>
                      <a:pt x="1316785" y="208943"/>
                      <a:pt x="1408044" y="208943"/>
                    </a:cubicBezTo>
                    <a:cubicBezTo>
                      <a:pt x="1499303" y="208943"/>
                      <a:pt x="1575443" y="122141"/>
                      <a:pt x="1593051" y="6749"/>
                    </a:cubicBezTo>
                    <a:lnTo>
                      <a:pt x="1593559" y="0"/>
                    </a:lnTo>
                    <a:lnTo>
                      <a:pt x="2928735" y="0"/>
                    </a:lnTo>
                    <a:cubicBezTo>
                      <a:pt x="2972646" y="0"/>
                      <a:pt x="3008243" y="35597"/>
                      <a:pt x="3008243" y="79508"/>
                    </a:cubicBezTo>
                    <a:lnTo>
                      <a:pt x="3008243" y="4686413"/>
                    </a:lnTo>
                    <a:cubicBezTo>
                      <a:pt x="3008243" y="4730324"/>
                      <a:pt x="2972646" y="4765921"/>
                      <a:pt x="2928735" y="4765921"/>
                    </a:cubicBezTo>
                    <a:lnTo>
                      <a:pt x="79508" y="4765921"/>
                    </a:lnTo>
                    <a:cubicBezTo>
                      <a:pt x="35597" y="4765921"/>
                      <a:pt x="0" y="4730324"/>
                      <a:pt x="0" y="4686413"/>
                    </a:cubicBezTo>
                    <a:lnTo>
                      <a:pt x="0" y="79508"/>
                    </a:lnTo>
                    <a:cubicBezTo>
                      <a:pt x="0" y="35597"/>
                      <a:pt x="35597" y="0"/>
                      <a:pt x="79508" y="0"/>
                    </a:cubicBezTo>
                    <a:close/>
                  </a:path>
                </a:pathLst>
              </a:custGeom>
              <a:gradFill flip="none" rotWithShape="1">
                <a:gsLst>
                  <a:gs pos="2000">
                    <a:srgbClr val="66CCFF"/>
                  </a:gs>
                  <a:gs pos="68000">
                    <a:srgbClr val="FF66FF">
                      <a:alpha val="93000"/>
                    </a:srgbClr>
                  </a:gs>
                </a:gsLst>
                <a:lin ang="5400000" scaled="1"/>
                <a:tileRect/>
              </a:gradFill>
              <a:ln>
                <a:noFill/>
              </a:ln>
              <a:sp3d extrusionH="165100"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9939" y="1915019"/>
              <a:ext cx="721519" cy="1228725"/>
            </a:xfrm>
            <a:prstGeom prst="rect">
              <a:avLst/>
            </a:prstGeom>
          </p:spPr>
        </p:pic>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2043" y="2266622"/>
              <a:ext cx="721519" cy="1228725"/>
            </a:xfrm>
            <a:prstGeom prst="rect">
              <a:avLst/>
            </a:prstGeom>
          </p:spPr>
        </p:pic>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6469" y="2593154"/>
              <a:ext cx="721519" cy="1228725"/>
            </a:xfrm>
            <a:prstGeom prst="rect">
              <a:avLst/>
            </a:prstGeom>
          </p:spPr>
        </p:pic>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5675" y="2344963"/>
              <a:ext cx="721519" cy="1228725"/>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596" y="2377477"/>
              <a:ext cx="1009689" cy="2235740"/>
            </a:xfrm>
            <a:prstGeom prst="rect">
              <a:avLst/>
            </a:prstGeom>
          </p:spPr>
        </p:pic>
        <p:sp>
          <p:nvSpPr>
            <p:cNvPr id="24" name="Speech Bubble: Rectangle 23"/>
            <p:cNvSpPr/>
            <p:nvPr/>
          </p:nvSpPr>
          <p:spPr>
            <a:xfrm>
              <a:off x="2851417" y="1747690"/>
              <a:ext cx="891452" cy="597273"/>
            </a:xfrm>
            <a:prstGeom prst="wedgeRectCallout">
              <a:avLst/>
            </a:prstGeom>
            <a:solidFill>
              <a:schemeClr val="bg1"/>
            </a:soli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002060"/>
                  </a:solidFill>
                </a:rPr>
                <a:t>Welcome</a:t>
              </a:r>
            </a:p>
          </p:txBody>
        </p:sp>
        <p:sp>
          <p:nvSpPr>
            <p:cNvPr id="31" name="Freeform: Shape 30"/>
            <p:cNvSpPr/>
            <p:nvPr/>
          </p:nvSpPr>
          <p:spPr>
            <a:xfrm>
              <a:off x="5951984" y="1201209"/>
              <a:ext cx="954778" cy="525984"/>
            </a:xfrm>
            <a:custGeom>
              <a:avLst/>
              <a:gdLst>
                <a:gd name="connsiteX0" fmla="*/ 972639 w 1814492"/>
                <a:gd name="connsiteY0" fmla="*/ 0 h 1180289"/>
                <a:gd name="connsiteX1" fmla="*/ 1221841 w 1814492"/>
                <a:gd name="connsiteY1" fmla="*/ 122848 h 1180289"/>
                <a:gd name="connsiteX2" fmla="*/ 1261496 w 1814492"/>
                <a:gd name="connsiteY2" fmla="*/ 180048 h 1180289"/>
                <a:gd name="connsiteX3" fmla="*/ 1275312 w 1814492"/>
                <a:gd name="connsiteY3" fmla="*/ 174944 h 1180289"/>
                <a:gd name="connsiteX4" fmla="*/ 1346338 w 1814492"/>
                <a:gd name="connsiteY4" fmla="*/ 166423 h 1180289"/>
                <a:gd name="connsiteX5" fmla="*/ 1698763 w 1814492"/>
                <a:gd name="connsiteY5" fmla="*/ 585853 h 1180289"/>
                <a:gd name="connsiteX6" fmla="*/ 1693744 w 1814492"/>
                <a:gd name="connsiteY6" fmla="*/ 645105 h 1180289"/>
                <a:gd name="connsiteX7" fmla="*/ 1727439 w 1814492"/>
                <a:gd name="connsiteY7" fmla="*/ 672906 h 1180289"/>
                <a:gd name="connsiteX8" fmla="*/ 1814492 w 1814492"/>
                <a:gd name="connsiteY8" fmla="*/ 883071 h 1180289"/>
                <a:gd name="connsiteX9" fmla="*/ 1517274 w 1814492"/>
                <a:gd name="connsiteY9" fmla="*/ 1180289 h 1180289"/>
                <a:gd name="connsiteX10" fmla="*/ 297218 w 1814492"/>
                <a:gd name="connsiteY10" fmla="*/ 1180289 h 1180289"/>
                <a:gd name="connsiteX11" fmla="*/ 0 w 1814492"/>
                <a:gd name="connsiteY11" fmla="*/ 883071 h 1180289"/>
                <a:gd name="connsiteX12" fmla="*/ 237318 w 1814492"/>
                <a:gd name="connsiteY12" fmla="*/ 591891 h 1180289"/>
                <a:gd name="connsiteX13" fmla="*/ 239971 w 1814492"/>
                <a:gd name="connsiteY13" fmla="*/ 591624 h 1180289"/>
                <a:gd name="connsiteX14" fmla="*/ 233907 w 1814492"/>
                <a:gd name="connsiteY14" fmla="*/ 520036 h 1180289"/>
                <a:gd name="connsiteX15" fmla="*/ 586332 w 1814492"/>
                <a:gd name="connsiteY15" fmla="*/ 100606 h 1180289"/>
                <a:gd name="connsiteX16" fmla="*/ 657358 w 1814492"/>
                <a:gd name="connsiteY16" fmla="*/ 109127 h 1180289"/>
                <a:gd name="connsiteX17" fmla="*/ 717536 w 1814492"/>
                <a:gd name="connsiteY17" fmla="*/ 131359 h 1180289"/>
                <a:gd name="connsiteX18" fmla="*/ 723437 w 1814492"/>
                <a:gd name="connsiteY18" fmla="*/ 122848 h 1180289"/>
                <a:gd name="connsiteX19" fmla="*/ 972639 w 1814492"/>
                <a:gd name="connsiteY19" fmla="*/ 0 h 118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14492" h="1180289">
                  <a:moveTo>
                    <a:pt x="972639" y="0"/>
                  </a:moveTo>
                  <a:cubicBezTo>
                    <a:pt x="1069959" y="0"/>
                    <a:pt x="1158065" y="46946"/>
                    <a:pt x="1221841" y="122848"/>
                  </a:cubicBezTo>
                  <a:lnTo>
                    <a:pt x="1261496" y="180048"/>
                  </a:lnTo>
                  <a:lnTo>
                    <a:pt x="1275312" y="174944"/>
                  </a:lnTo>
                  <a:cubicBezTo>
                    <a:pt x="1298254" y="169357"/>
                    <a:pt x="1322008" y="166423"/>
                    <a:pt x="1346338" y="166423"/>
                  </a:cubicBezTo>
                  <a:cubicBezTo>
                    <a:pt x="1540977" y="166423"/>
                    <a:pt x="1698763" y="354208"/>
                    <a:pt x="1698763" y="585853"/>
                  </a:cubicBezTo>
                  <a:lnTo>
                    <a:pt x="1693744" y="645105"/>
                  </a:lnTo>
                  <a:lnTo>
                    <a:pt x="1727439" y="672906"/>
                  </a:lnTo>
                  <a:cubicBezTo>
                    <a:pt x="1781225" y="726692"/>
                    <a:pt x="1814492" y="800997"/>
                    <a:pt x="1814492" y="883071"/>
                  </a:cubicBezTo>
                  <a:cubicBezTo>
                    <a:pt x="1814492" y="1047220"/>
                    <a:pt x="1681423" y="1180289"/>
                    <a:pt x="1517274" y="1180289"/>
                  </a:cubicBezTo>
                  <a:lnTo>
                    <a:pt x="297218" y="1180289"/>
                  </a:lnTo>
                  <a:cubicBezTo>
                    <a:pt x="133069" y="1180289"/>
                    <a:pt x="0" y="1047220"/>
                    <a:pt x="0" y="883071"/>
                  </a:cubicBezTo>
                  <a:cubicBezTo>
                    <a:pt x="0" y="739441"/>
                    <a:pt x="101881" y="619606"/>
                    <a:pt x="237318" y="591891"/>
                  </a:cubicBezTo>
                  <a:lnTo>
                    <a:pt x="239971" y="591624"/>
                  </a:lnTo>
                  <a:lnTo>
                    <a:pt x="233907" y="520036"/>
                  </a:lnTo>
                  <a:cubicBezTo>
                    <a:pt x="233907" y="288391"/>
                    <a:pt x="391693" y="100606"/>
                    <a:pt x="586332" y="100606"/>
                  </a:cubicBezTo>
                  <a:cubicBezTo>
                    <a:pt x="610662" y="100606"/>
                    <a:pt x="634416" y="103540"/>
                    <a:pt x="657358" y="109127"/>
                  </a:cubicBezTo>
                  <a:lnTo>
                    <a:pt x="717536" y="131359"/>
                  </a:lnTo>
                  <a:lnTo>
                    <a:pt x="723437" y="122848"/>
                  </a:lnTo>
                  <a:cubicBezTo>
                    <a:pt x="787213" y="46946"/>
                    <a:pt x="875320" y="0"/>
                    <a:pt x="972639" y="0"/>
                  </a:cubicBezTo>
                  <a:close/>
                </a:path>
              </a:pathLst>
            </a:custGeom>
            <a:solidFill>
              <a:schemeClr val="bg1"/>
            </a:solidFill>
            <a:scene3d>
              <a:camera prst="isometricLeftDown"/>
              <a:lightRig rig="soft" dir="t"/>
            </a:scene3d>
            <a:sp3d extrusionH="762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002060"/>
                  </a:solidFill>
                </a:rPr>
                <a:t>Cloud</a:t>
              </a:r>
            </a:p>
            <a:p>
              <a:pPr algn="ctr"/>
              <a:r>
                <a:rPr lang="en-US" sz="1350" dirty="0">
                  <a:solidFill>
                    <a:srgbClr val="002060"/>
                  </a:solidFill>
                </a:rPr>
                <a:t>Based</a:t>
              </a:r>
            </a:p>
          </p:txBody>
        </p:sp>
        <p:sp>
          <p:nvSpPr>
            <p:cNvPr id="33" name="Rectangle 32"/>
            <p:cNvSpPr/>
            <p:nvPr/>
          </p:nvSpPr>
          <p:spPr>
            <a:xfrm>
              <a:off x="-122824" y="2395613"/>
              <a:ext cx="4758470" cy="2862979"/>
            </a:xfrm>
            <a:prstGeom prst="rect">
              <a:avLst/>
            </a:prstGeom>
            <a:gradFill>
              <a:gsLst>
                <a:gs pos="0">
                  <a:srgbClr val="00FFFF">
                    <a:alpha val="45000"/>
                  </a:srgbClr>
                </a:gs>
                <a:gs pos="100000">
                  <a:srgbClr val="FF6699">
                    <a:alpha val="68000"/>
                  </a:srgbClr>
                </a:gs>
              </a:gsLst>
              <a:path path="circle">
                <a:fillToRect l="100000" t="100000"/>
              </a:path>
            </a:gradFill>
            <a:scene3d>
              <a:camera prst="isometricLeftDown"/>
              <a:lightRig rig="twoPt" dir="t"/>
            </a:scene3d>
            <a:sp3d extrusionH="88900">
              <a:extrusionClr>
                <a:srgbClr val="00B0F0"/>
              </a:extrusionClr>
              <a:contourClr>
                <a:srgbClr val="92D05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9" name="Connector: Elbow 38"/>
            <p:cNvCxnSpPr/>
            <p:nvPr/>
          </p:nvCxnSpPr>
          <p:spPr>
            <a:xfrm rot="10800000" flipV="1">
              <a:off x="5740663" y="1680609"/>
              <a:ext cx="688710" cy="685389"/>
            </a:xfrm>
            <a:prstGeom prst="bentConnector3">
              <a:avLst>
                <a:gd name="adj1" fmla="val 50000"/>
              </a:avLst>
            </a:prstGeom>
            <a:ln>
              <a:tailEnd type="triangle"/>
            </a:ln>
            <a:scene3d>
              <a:camera prst="isometricRightUp"/>
              <a:lightRig rig="threePt" dir="t"/>
            </a:scene3d>
          </p:spPr>
          <p:style>
            <a:lnRef idx="1">
              <a:schemeClr val="dk1"/>
            </a:lnRef>
            <a:fillRef idx="0">
              <a:schemeClr val="dk1"/>
            </a:fillRef>
            <a:effectRef idx="0">
              <a:schemeClr val="dk1"/>
            </a:effectRef>
            <a:fontRef idx="minor">
              <a:schemeClr val="tx1"/>
            </a:fontRef>
          </p:style>
        </p:cxnSp>
        <p:sp>
          <p:nvSpPr>
            <p:cNvPr id="17" name="Freeform: Shape 16"/>
            <p:cNvSpPr/>
            <p:nvPr/>
          </p:nvSpPr>
          <p:spPr>
            <a:xfrm>
              <a:off x="1010338" y="3073707"/>
              <a:ext cx="2226656" cy="1590159"/>
            </a:xfrm>
            <a:custGeom>
              <a:avLst/>
              <a:gdLst>
                <a:gd name="connsiteX0" fmla="*/ 972639 w 1814492"/>
                <a:gd name="connsiteY0" fmla="*/ 0 h 1180289"/>
                <a:gd name="connsiteX1" fmla="*/ 1221841 w 1814492"/>
                <a:gd name="connsiteY1" fmla="*/ 122848 h 1180289"/>
                <a:gd name="connsiteX2" fmla="*/ 1261496 w 1814492"/>
                <a:gd name="connsiteY2" fmla="*/ 180048 h 1180289"/>
                <a:gd name="connsiteX3" fmla="*/ 1275312 w 1814492"/>
                <a:gd name="connsiteY3" fmla="*/ 174944 h 1180289"/>
                <a:gd name="connsiteX4" fmla="*/ 1346338 w 1814492"/>
                <a:gd name="connsiteY4" fmla="*/ 166423 h 1180289"/>
                <a:gd name="connsiteX5" fmla="*/ 1698763 w 1814492"/>
                <a:gd name="connsiteY5" fmla="*/ 585853 h 1180289"/>
                <a:gd name="connsiteX6" fmla="*/ 1693744 w 1814492"/>
                <a:gd name="connsiteY6" fmla="*/ 645105 h 1180289"/>
                <a:gd name="connsiteX7" fmla="*/ 1727439 w 1814492"/>
                <a:gd name="connsiteY7" fmla="*/ 672906 h 1180289"/>
                <a:gd name="connsiteX8" fmla="*/ 1814492 w 1814492"/>
                <a:gd name="connsiteY8" fmla="*/ 883071 h 1180289"/>
                <a:gd name="connsiteX9" fmla="*/ 1517274 w 1814492"/>
                <a:gd name="connsiteY9" fmla="*/ 1180289 h 1180289"/>
                <a:gd name="connsiteX10" fmla="*/ 297218 w 1814492"/>
                <a:gd name="connsiteY10" fmla="*/ 1180289 h 1180289"/>
                <a:gd name="connsiteX11" fmla="*/ 0 w 1814492"/>
                <a:gd name="connsiteY11" fmla="*/ 883071 h 1180289"/>
                <a:gd name="connsiteX12" fmla="*/ 237318 w 1814492"/>
                <a:gd name="connsiteY12" fmla="*/ 591891 h 1180289"/>
                <a:gd name="connsiteX13" fmla="*/ 239971 w 1814492"/>
                <a:gd name="connsiteY13" fmla="*/ 591624 h 1180289"/>
                <a:gd name="connsiteX14" fmla="*/ 233907 w 1814492"/>
                <a:gd name="connsiteY14" fmla="*/ 520036 h 1180289"/>
                <a:gd name="connsiteX15" fmla="*/ 586332 w 1814492"/>
                <a:gd name="connsiteY15" fmla="*/ 100606 h 1180289"/>
                <a:gd name="connsiteX16" fmla="*/ 657358 w 1814492"/>
                <a:gd name="connsiteY16" fmla="*/ 109127 h 1180289"/>
                <a:gd name="connsiteX17" fmla="*/ 717536 w 1814492"/>
                <a:gd name="connsiteY17" fmla="*/ 131359 h 1180289"/>
                <a:gd name="connsiteX18" fmla="*/ 723437 w 1814492"/>
                <a:gd name="connsiteY18" fmla="*/ 122848 h 1180289"/>
                <a:gd name="connsiteX19" fmla="*/ 972639 w 1814492"/>
                <a:gd name="connsiteY19" fmla="*/ 0 h 118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14492" h="1180289">
                  <a:moveTo>
                    <a:pt x="972639" y="0"/>
                  </a:moveTo>
                  <a:cubicBezTo>
                    <a:pt x="1069959" y="0"/>
                    <a:pt x="1158065" y="46946"/>
                    <a:pt x="1221841" y="122848"/>
                  </a:cubicBezTo>
                  <a:lnTo>
                    <a:pt x="1261496" y="180048"/>
                  </a:lnTo>
                  <a:lnTo>
                    <a:pt x="1275312" y="174944"/>
                  </a:lnTo>
                  <a:cubicBezTo>
                    <a:pt x="1298254" y="169357"/>
                    <a:pt x="1322008" y="166423"/>
                    <a:pt x="1346338" y="166423"/>
                  </a:cubicBezTo>
                  <a:cubicBezTo>
                    <a:pt x="1540977" y="166423"/>
                    <a:pt x="1698763" y="354208"/>
                    <a:pt x="1698763" y="585853"/>
                  </a:cubicBezTo>
                  <a:lnTo>
                    <a:pt x="1693744" y="645105"/>
                  </a:lnTo>
                  <a:lnTo>
                    <a:pt x="1727439" y="672906"/>
                  </a:lnTo>
                  <a:cubicBezTo>
                    <a:pt x="1781225" y="726692"/>
                    <a:pt x="1814492" y="800997"/>
                    <a:pt x="1814492" y="883071"/>
                  </a:cubicBezTo>
                  <a:cubicBezTo>
                    <a:pt x="1814492" y="1047220"/>
                    <a:pt x="1681423" y="1180289"/>
                    <a:pt x="1517274" y="1180289"/>
                  </a:cubicBezTo>
                  <a:lnTo>
                    <a:pt x="297218" y="1180289"/>
                  </a:lnTo>
                  <a:cubicBezTo>
                    <a:pt x="133069" y="1180289"/>
                    <a:pt x="0" y="1047220"/>
                    <a:pt x="0" y="883071"/>
                  </a:cubicBezTo>
                  <a:cubicBezTo>
                    <a:pt x="0" y="739441"/>
                    <a:pt x="101881" y="619606"/>
                    <a:pt x="237318" y="591891"/>
                  </a:cubicBezTo>
                  <a:lnTo>
                    <a:pt x="239971" y="591624"/>
                  </a:lnTo>
                  <a:lnTo>
                    <a:pt x="233907" y="520036"/>
                  </a:lnTo>
                  <a:cubicBezTo>
                    <a:pt x="233907" y="288391"/>
                    <a:pt x="391693" y="100606"/>
                    <a:pt x="586332" y="100606"/>
                  </a:cubicBezTo>
                  <a:cubicBezTo>
                    <a:pt x="610662" y="100606"/>
                    <a:pt x="634416" y="103540"/>
                    <a:pt x="657358" y="109127"/>
                  </a:cubicBezTo>
                  <a:lnTo>
                    <a:pt x="717536" y="131359"/>
                  </a:lnTo>
                  <a:lnTo>
                    <a:pt x="723437" y="122848"/>
                  </a:lnTo>
                  <a:cubicBezTo>
                    <a:pt x="787213" y="46946"/>
                    <a:pt x="875320" y="0"/>
                    <a:pt x="972639" y="0"/>
                  </a:cubicBezTo>
                  <a:close/>
                </a:path>
              </a:pathLst>
            </a:custGeom>
            <a:solidFill>
              <a:srgbClr val="00B0F0"/>
            </a:solidFill>
            <a:scene3d>
              <a:camera prst="isometricLeftDown"/>
              <a:lightRig rig="soft" dir="t"/>
            </a:scene3d>
            <a:sp3d extrusionH="203200"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002060"/>
                </a:solidFill>
              </a:endParaRPr>
            </a:p>
          </p:txBody>
        </p:sp>
        <p:sp>
          <p:nvSpPr>
            <p:cNvPr id="47" name="TextBox 46"/>
            <p:cNvSpPr txBox="1"/>
            <p:nvPr/>
          </p:nvSpPr>
          <p:spPr>
            <a:xfrm>
              <a:off x="882951" y="3968355"/>
              <a:ext cx="2573092" cy="323165"/>
            </a:xfrm>
            <a:prstGeom prst="rect">
              <a:avLst/>
            </a:prstGeom>
            <a:noFill/>
            <a:effectLst>
              <a:glow rad="63500">
                <a:srgbClr val="FF0000">
                  <a:alpha val="40000"/>
                </a:srgbClr>
              </a:glow>
            </a:effectLst>
            <a:scene3d>
              <a:camera prst="isometricLeftDown"/>
              <a:lightRig rig="threePt" dir="t"/>
            </a:scene3d>
            <a:sp3d extrusionH="685800"/>
          </p:spPr>
          <p:txBody>
            <a:bodyPr wrap="square" rtlCol="0">
              <a:spAutoFit/>
            </a:bodyPr>
            <a:lstStyle/>
            <a:p>
              <a:pPr algn="ctr"/>
              <a:r>
                <a:rPr lang="en-US" sz="1500" b="1" dirty="0">
                  <a:solidFill>
                    <a:srgbClr val="FF6699"/>
                  </a:solidFill>
                  <a:latin typeface="Helvetica" panose="020B0604020202020204" pitchFamily="34" charset="0"/>
                </a:rPr>
                <a:t>CLOUD COMPUTING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p:cNvGrpSpPr/>
          <p:nvPr/>
        </p:nvGrpSpPr>
        <p:grpSpPr>
          <a:xfrm>
            <a:off x="518363" y="2867666"/>
            <a:ext cx="3973285" cy="1404257"/>
            <a:chOff x="3447142" y="1248229"/>
            <a:chExt cx="5297715" cy="1872343"/>
          </a:xfrm>
        </p:grpSpPr>
        <p:sp>
          <p:nvSpPr>
            <p:cNvPr id="36" name="Freeform: Shape 35"/>
            <p:cNvSpPr/>
            <p:nvPr/>
          </p:nvSpPr>
          <p:spPr>
            <a:xfrm>
              <a:off x="3904342" y="2336800"/>
              <a:ext cx="4122057" cy="783772"/>
            </a:xfrm>
            <a:custGeom>
              <a:avLst/>
              <a:gdLst>
                <a:gd name="connsiteX0" fmla="*/ 0 w 4746172"/>
                <a:gd name="connsiteY0" fmla="*/ 0 h 2373087"/>
                <a:gd name="connsiteX1" fmla="*/ 4746172 w 4746172"/>
                <a:gd name="connsiteY1" fmla="*/ 0 h 2373087"/>
                <a:gd name="connsiteX2" fmla="*/ 4746172 w 4746172"/>
                <a:gd name="connsiteY2" fmla="*/ 1 h 2373087"/>
                <a:gd name="connsiteX3" fmla="*/ 2373086 w 4746172"/>
                <a:gd name="connsiteY3" fmla="*/ 2373087 h 2373087"/>
                <a:gd name="connsiteX4" fmla="*/ 0 w 4746172"/>
                <a:gd name="connsiteY4" fmla="*/ 1 h 2373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6172" h="2373087">
                  <a:moveTo>
                    <a:pt x="0" y="0"/>
                  </a:moveTo>
                  <a:lnTo>
                    <a:pt x="4746172" y="0"/>
                  </a:lnTo>
                  <a:lnTo>
                    <a:pt x="4746172" y="1"/>
                  </a:lnTo>
                  <a:cubicBezTo>
                    <a:pt x="4746172" y="1310620"/>
                    <a:pt x="3683705" y="2373087"/>
                    <a:pt x="2373086" y="2373087"/>
                  </a:cubicBezTo>
                  <a:cubicBezTo>
                    <a:pt x="1062467" y="2373087"/>
                    <a:pt x="0" y="1310620"/>
                    <a:pt x="0" y="1"/>
                  </a:cubicBezTo>
                  <a:close/>
                </a:path>
              </a:pathLst>
            </a:custGeom>
            <a:gradFill flip="none" rotWithShape="1">
              <a:gsLst>
                <a:gs pos="13000">
                  <a:schemeClr val="tx1">
                    <a:alpha val="60000"/>
                  </a:schemeClr>
                </a:gs>
                <a:gs pos="100000">
                  <a:srgbClr val="D7D8DC">
                    <a:alpha val="0"/>
                  </a:srgbClr>
                </a:gs>
              </a:gsLst>
              <a:lin ang="54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en-US" sz="1350">
                <a:effectLst/>
              </a:endParaRPr>
            </a:p>
          </p:txBody>
        </p:sp>
        <p:sp>
          <p:nvSpPr>
            <p:cNvPr id="37" name="Rectangle 36"/>
            <p:cNvSpPr/>
            <p:nvPr/>
          </p:nvSpPr>
          <p:spPr>
            <a:xfrm>
              <a:off x="3447142" y="1248229"/>
              <a:ext cx="5297715" cy="1262742"/>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en-US" sz="1350">
                <a:effectLst/>
              </a:endParaRPr>
            </a:p>
          </p:txBody>
        </p:sp>
        <p:sp>
          <p:nvSpPr>
            <p:cNvPr id="38" name="Oval 37"/>
            <p:cNvSpPr/>
            <p:nvPr/>
          </p:nvSpPr>
          <p:spPr>
            <a:xfrm>
              <a:off x="4586513" y="1494970"/>
              <a:ext cx="747485" cy="747485"/>
            </a:xfrm>
            <a:prstGeom prst="ellipse">
              <a:avLst/>
            </a:prstGeom>
            <a:solidFill>
              <a:srgbClr val="0066CC"/>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en-US" sz="1350">
                <a:effectLst/>
              </a:endParaRPr>
            </a:p>
          </p:txBody>
        </p:sp>
        <p:sp>
          <p:nvSpPr>
            <p:cNvPr id="39" name="TextBox 38"/>
            <p:cNvSpPr txBox="1"/>
            <p:nvPr/>
          </p:nvSpPr>
          <p:spPr>
            <a:xfrm>
              <a:off x="4586513" y="1607102"/>
              <a:ext cx="747485" cy="553997"/>
            </a:xfrm>
            <a:prstGeom prst="rect">
              <a:avLst/>
            </a:prstGeom>
            <a:noFill/>
          </p:spPr>
          <p:txBody>
            <a:bodyPr wrap="square" rtlCol="0">
              <a:spAutoFit/>
              <a:scene3d>
                <a:camera prst="orthographicFront"/>
                <a:lightRig rig="threePt" dir="t"/>
              </a:scene3d>
            </a:bodyPr>
            <a:lstStyle/>
            <a:p>
              <a:pPr algn="ctr"/>
              <a:r>
                <a:rPr lang="en-US" sz="2100" b="1" dirty="0">
                  <a:solidFill>
                    <a:schemeClr val="bg1"/>
                  </a:solidFill>
                  <a:effectLst/>
                </a:rPr>
                <a:t>02</a:t>
              </a:r>
            </a:p>
          </p:txBody>
        </p:sp>
        <p:sp>
          <p:nvSpPr>
            <p:cNvPr id="40" name="TextBox 39"/>
            <p:cNvSpPr txBox="1"/>
            <p:nvPr/>
          </p:nvSpPr>
          <p:spPr>
            <a:xfrm>
              <a:off x="5192061" y="1476458"/>
              <a:ext cx="3503853" cy="779700"/>
            </a:xfrm>
            <a:prstGeom prst="rect">
              <a:avLst/>
            </a:prstGeom>
            <a:noFill/>
          </p:spPr>
          <p:txBody>
            <a:bodyPr wrap="square" rtlCol="0">
              <a:spAutoFit/>
              <a:scene3d>
                <a:camera prst="orthographicFront"/>
                <a:lightRig rig="threePt" dir="t"/>
              </a:scene3d>
            </a:bodyPr>
            <a:lstStyle/>
            <a:p>
              <a:pPr algn="ctr"/>
              <a:r>
                <a:rPr lang="en-US" sz="1600" b="1" dirty="0">
                  <a:solidFill>
                    <a:srgbClr val="0066CC"/>
                  </a:solidFill>
                  <a:effectLst/>
                </a:rPr>
                <a:t>TIMELINE OF CLOUD COMPUTING</a:t>
              </a:r>
            </a:p>
          </p:txBody>
        </p:sp>
      </p:grpSp>
      <p:grpSp>
        <p:nvGrpSpPr>
          <p:cNvPr id="42" name="Group 41"/>
          <p:cNvGrpSpPr/>
          <p:nvPr/>
        </p:nvGrpSpPr>
        <p:grpSpPr>
          <a:xfrm>
            <a:off x="514433" y="5375392"/>
            <a:ext cx="3973286" cy="947057"/>
            <a:chOff x="3447142" y="1248229"/>
            <a:chExt cx="5297715" cy="1262743"/>
          </a:xfrm>
        </p:grpSpPr>
        <p:sp>
          <p:nvSpPr>
            <p:cNvPr id="44" name="Rectangle 43"/>
            <p:cNvSpPr/>
            <p:nvPr/>
          </p:nvSpPr>
          <p:spPr>
            <a:xfrm>
              <a:off x="3447142" y="1248229"/>
              <a:ext cx="5297715" cy="1262743"/>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5" name="Oval 44"/>
            <p:cNvSpPr/>
            <p:nvPr/>
          </p:nvSpPr>
          <p:spPr>
            <a:xfrm>
              <a:off x="4586513" y="1494970"/>
              <a:ext cx="747485" cy="747485"/>
            </a:xfrm>
            <a:prstGeom prst="ellipse">
              <a:avLst/>
            </a:prstGeom>
            <a:solidFill>
              <a:schemeClr val="tx2">
                <a:lumMod val="50000"/>
              </a:schemeClr>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TextBox 45"/>
            <p:cNvSpPr txBox="1"/>
            <p:nvPr/>
          </p:nvSpPr>
          <p:spPr>
            <a:xfrm>
              <a:off x="4586513" y="1607102"/>
              <a:ext cx="747485" cy="553997"/>
            </a:xfrm>
            <a:prstGeom prst="rect">
              <a:avLst/>
            </a:prstGeom>
            <a:noFill/>
          </p:spPr>
          <p:txBody>
            <a:bodyPr wrap="square" rtlCol="0">
              <a:spAutoFit/>
            </a:bodyPr>
            <a:lstStyle/>
            <a:p>
              <a:pPr algn="ctr"/>
              <a:r>
                <a:rPr lang="en-US" sz="2100" b="1" dirty="0">
                  <a:solidFill>
                    <a:schemeClr val="bg1"/>
                  </a:solidFill>
                </a:rPr>
                <a:t>04</a:t>
              </a:r>
            </a:p>
          </p:txBody>
        </p:sp>
        <p:sp>
          <p:nvSpPr>
            <p:cNvPr id="47" name="TextBox 46"/>
            <p:cNvSpPr txBox="1"/>
            <p:nvPr/>
          </p:nvSpPr>
          <p:spPr>
            <a:xfrm>
              <a:off x="5473943" y="1650362"/>
              <a:ext cx="2503512" cy="451405"/>
            </a:xfrm>
            <a:prstGeom prst="rect">
              <a:avLst/>
            </a:prstGeom>
            <a:noFill/>
          </p:spPr>
          <p:txBody>
            <a:bodyPr wrap="square" rtlCol="0">
              <a:spAutoFit/>
            </a:bodyPr>
            <a:lstStyle/>
            <a:p>
              <a:pPr algn="ctr"/>
              <a:r>
                <a:rPr lang="en-US" sz="1600" b="1" dirty="0">
                  <a:solidFill>
                    <a:schemeClr val="tx2">
                      <a:lumMod val="50000"/>
                    </a:schemeClr>
                  </a:solidFill>
                </a:rPr>
                <a:t>CHARACTERSTICS</a:t>
              </a:r>
            </a:p>
          </p:txBody>
        </p:sp>
      </p:grpSp>
      <p:grpSp>
        <p:nvGrpSpPr>
          <p:cNvPr id="21" name="Group 20"/>
          <p:cNvGrpSpPr/>
          <p:nvPr/>
        </p:nvGrpSpPr>
        <p:grpSpPr>
          <a:xfrm>
            <a:off x="489769" y="4110493"/>
            <a:ext cx="3973286" cy="1404257"/>
            <a:chOff x="3447142" y="1248229"/>
            <a:chExt cx="5297715" cy="1872343"/>
          </a:xfrm>
        </p:grpSpPr>
        <p:sp>
          <p:nvSpPr>
            <p:cNvPr id="22" name="Freeform: Shape 21"/>
            <p:cNvSpPr/>
            <p:nvPr/>
          </p:nvSpPr>
          <p:spPr>
            <a:xfrm>
              <a:off x="3904342" y="2336800"/>
              <a:ext cx="4122057" cy="783772"/>
            </a:xfrm>
            <a:custGeom>
              <a:avLst/>
              <a:gdLst>
                <a:gd name="connsiteX0" fmla="*/ 0 w 4746172"/>
                <a:gd name="connsiteY0" fmla="*/ 0 h 2373087"/>
                <a:gd name="connsiteX1" fmla="*/ 4746172 w 4746172"/>
                <a:gd name="connsiteY1" fmla="*/ 0 h 2373087"/>
                <a:gd name="connsiteX2" fmla="*/ 4746172 w 4746172"/>
                <a:gd name="connsiteY2" fmla="*/ 1 h 2373087"/>
                <a:gd name="connsiteX3" fmla="*/ 2373086 w 4746172"/>
                <a:gd name="connsiteY3" fmla="*/ 2373087 h 2373087"/>
                <a:gd name="connsiteX4" fmla="*/ 0 w 4746172"/>
                <a:gd name="connsiteY4" fmla="*/ 1 h 2373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6172" h="2373087">
                  <a:moveTo>
                    <a:pt x="0" y="0"/>
                  </a:moveTo>
                  <a:lnTo>
                    <a:pt x="4746172" y="0"/>
                  </a:lnTo>
                  <a:lnTo>
                    <a:pt x="4746172" y="1"/>
                  </a:lnTo>
                  <a:cubicBezTo>
                    <a:pt x="4746172" y="1310620"/>
                    <a:pt x="3683705" y="2373087"/>
                    <a:pt x="2373086" y="2373087"/>
                  </a:cubicBezTo>
                  <a:cubicBezTo>
                    <a:pt x="1062467" y="2373087"/>
                    <a:pt x="0" y="1310620"/>
                    <a:pt x="0" y="1"/>
                  </a:cubicBezTo>
                  <a:close/>
                </a:path>
              </a:pathLst>
            </a:custGeom>
            <a:gradFill flip="none" rotWithShape="1">
              <a:gsLst>
                <a:gs pos="13000">
                  <a:schemeClr val="tx1">
                    <a:alpha val="60000"/>
                  </a:schemeClr>
                </a:gs>
                <a:gs pos="100000">
                  <a:srgbClr val="D7D8DC">
                    <a:alpha val="0"/>
                  </a:srgbClr>
                </a:gs>
              </a:gsLst>
              <a:lin ang="54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p:cNvSpPr/>
            <p:nvPr/>
          </p:nvSpPr>
          <p:spPr>
            <a:xfrm>
              <a:off x="3447142" y="1248229"/>
              <a:ext cx="5297715" cy="1262742"/>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4586513" y="1494970"/>
              <a:ext cx="747485" cy="747485"/>
            </a:xfrm>
            <a:prstGeom prst="ellipse">
              <a:avLst/>
            </a:prstGeom>
            <a:solidFill>
              <a:srgbClr val="FF9900"/>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TextBox 24"/>
            <p:cNvSpPr txBox="1"/>
            <p:nvPr/>
          </p:nvSpPr>
          <p:spPr>
            <a:xfrm>
              <a:off x="4586513" y="1607102"/>
              <a:ext cx="747485" cy="553997"/>
            </a:xfrm>
            <a:prstGeom prst="rect">
              <a:avLst/>
            </a:prstGeom>
            <a:noFill/>
          </p:spPr>
          <p:txBody>
            <a:bodyPr wrap="square" rtlCol="0">
              <a:spAutoFit/>
            </a:bodyPr>
            <a:lstStyle/>
            <a:p>
              <a:pPr algn="ctr"/>
              <a:r>
                <a:rPr lang="en-US" sz="2100" b="1" dirty="0">
                  <a:solidFill>
                    <a:schemeClr val="bg1"/>
                  </a:solidFill>
                </a:rPr>
                <a:t>03</a:t>
              </a:r>
            </a:p>
          </p:txBody>
        </p:sp>
        <p:sp>
          <p:nvSpPr>
            <p:cNvPr id="26" name="TextBox 25"/>
            <p:cNvSpPr txBox="1"/>
            <p:nvPr/>
          </p:nvSpPr>
          <p:spPr>
            <a:xfrm>
              <a:off x="5522887" y="1636532"/>
              <a:ext cx="2793324" cy="451405"/>
            </a:xfrm>
            <a:prstGeom prst="rect">
              <a:avLst/>
            </a:prstGeom>
            <a:noFill/>
          </p:spPr>
          <p:txBody>
            <a:bodyPr wrap="square" rtlCol="0">
              <a:spAutoFit/>
            </a:bodyPr>
            <a:lstStyle/>
            <a:p>
              <a:r>
                <a:rPr lang="en-US" sz="1600" b="1" dirty="0">
                  <a:solidFill>
                    <a:srgbClr val="FF9900"/>
                  </a:solidFill>
                </a:rPr>
                <a:t>HISTORY &amp;EVOLUTION </a:t>
              </a:r>
            </a:p>
          </p:txBody>
        </p:sp>
      </p:grpSp>
      <p:grpSp>
        <p:nvGrpSpPr>
          <p:cNvPr id="2" name="Group 1"/>
          <p:cNvGrpSpPr/>
          <p:nvPr/>
        </p:nvGrpSpPr>
        <p:grpSpPr>
          <a:xfrm>
            <a:off x="514433" y="1675976"/>
            <a:ext cx="3973286" cy="1404257"/>
            <a:chOff x="3447142" y="1248229"/>
            <a:chExt cx="5297715" cy="1872343"/>
          </a:xfrm>
        </p:grpSpPr>
        <p:sp>
          <p:nvSpPr>
            <p:cNvPr id="8" name="Freeform: Shape 7"/>
            <p:cNvSpPr/>
            <p:nvPr/>
          </p:nvSpPr>
          <p:spPr>
            <a:xfrm>
              <a:off x="3904342" y="2336800"/>
              <a:ext cx="4122057" cy="783772"/>
            </a:xfrm>
            <a:custGeom>
              <a:avLst/>
              <a:gdLst>
                <a:gd name="connsiteX0" fmla="*/ 0 w 4746172"/>
                <a:gd name="connsiteY0" fmla="*/ 0 h 2373087"/>
                <a:gd name="connsiteX1" fmla="*/ 4746172 w 4746172"/>
                <a:gd name="connsiteY1" fmla="*/ 0 h 2373087"/>
                <a:gd name="connsiteX2" fmla="*/ 4746172 w 4746172"/>
                <a:gd name="connsiteY2" fmla="*/ 1 h 2373087"/>
                <a:gd name="connsiteX3" fmla="*/ 2373086 w 4746172"/>
                <a:gd name="connsiteY3" fmla="*/ 2373087 h 2373087"/>
                <a:gd name="connsiteX4" fmla="*/ 0 w 4746172"/>
                <a:gd name="connsiteY4" fmla="*/ 1 h 2373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6172" h="2373087">
                  <a:moveTo>
                    <a:pt x="0" y="0"/>
                  </a:moveTo>
                  <a:lnTo>
                    <a:pt x="4746172" y="0"/>
                  </a:lnTo>
                  <a:lnTo>
                    <a:pt x="4746172" y="1"/>
                  </a:lnTo>
                  <a:cubicBezTo>
                    <a:pt x="4746172" y="1310620"/>
                    <a:pt x="3683705" y="2373087"/>
                    <a:pt x="2373086" y="2373087"/>
                  </a:cubicBezTo>
                  <a:cubicBezTo>
                    <a:pt x="1062467" y="2373087"/>
                    <a:pt x="0" y="1310620"/>
                    <a:pt x="0" y="1"/>
                  </a:cubicBezTo>
                  <a:close/>
                </a:path>
              </a:pathLst>
            </a:custGeom>
            <a:gradFill flip="none" rotWithShape="1">
              <a:gsLst>
                <a:gs pos="13000">
                  <a:schemeClr val="tx1">
                    <a:alpha val="60000"/>
                  </a:schemeClr>
                </a:gs>
                <a:gs pos="100000">
                  <a:srgbClr val="D7D8DC">
                    <a:alpha val="0"/>
                  </a:srgbClr>
                </a:gs>
              </a:gsLst>
              <a:lin ang="54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p:cNvSpPr/>
            <p:nvPr/>
          </p:nvSpPr>
          <p:spPr>
            <a:xfrm>
              <a:off x="3447142" y="1248229"/>
              <a:ext cx="5297715" cy="1262742"/>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0" name="Oval 9"/>
            <p:cNvSpPr/>
            <p:nvPr/>
          </p:nvSpPr>
          <p:spPr>
            <a:xfrm>
              <a:off x="4586513" y="1494970"/>
              <a:ext cx="747485" cy="747485"/>
            </a:xfrm>
            <a:prstGeom prst="ellipse">
              <a:avLst/>
            </a:prstGeom>
            <a:solidFill>
              <a:schemeClr val="accent6">
                <a:lumMod val="75000"/>
              </a:schemeClr>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p:cNvSpPr txBox="1"/>
            <p:nvPr/>
          </p:nvSpPr>
          <p:spPr>
            <a:xfrm>
              <a:off x="4586513" y="1607102"/>
              <a:ext cx="747485" cy="553997"/>
            </a:xfrm>
            <a:prstGeom prst="rect">
              <a:avLst/>
            </a:prstGeom>
            <a:noFill/>
          </p:spPr>
          <p:txBody>
            <a:bodyPr wrap="square" rtlCol="0">
              <a:spAutoFit/>
            </a:bodyPr>
            <a:lstStyle/>
            <a:p>
              <a:pPr algn="ctr"/>
              <a:r>
                <a:rPr lang="en-US" sz="2100" b="1" dirty="0">
                  <a:solidFill>
                    <a:schemeClr val="bg1"/>
                  </a:solidFill>
                </a:rPr>
                <a:t>01</a:t>
              </a:r>
            </a:p>
          </p:txBody>
        </p:sp>
        <p:sp>
          <p:nvSpPr>
            <p:cNvPr id="12" name="TextBox 11"/>
            <p:cNvSpPr txBox="1"/>
            <p:nvPr/>
          </p:nvSpPr>
          <p:spPr>
            <a:xfrm>
              <a:off x="5388586" y="1631445"/>
              <a:ext cx="2692402" cy="451405"/>
            </a:xfrm>
            <a:prstGeom prst="rect">
              <a:avLst/>
            </a:prstGeom>
            <a:noFill/>
          </p:spPr>
          <p:txBody>
            <a:bodyPr wrap="square" rtlCol="0">
              <a:spAutoFit/>
            </a:bodyPr>
            <a:lstStyle/>
            <a:p>
              <a:pPr algn="ctr"/>
              <a:r>
                <a:rPr lang="en-US" sz="1600" b="1" dirty="0">
                  <a:solidFill>
                    <a:schemeClr val="accent6">
                      <a:lumMod val="75000"/>
                    </a:schemeClr>
                  </a:solidFill>
                </a:rPr>
                <a:t>INTRODUCTION </a:t>
              </a:r>
            </a:p>
          </p:txBody>
        </p:sp>
      </p:grpSp>
      <p:sp>
        <p:nvSpPr>
          <p:cNvPr id="34" name="TextBox 33"/>
          <p:cNvSpPr txBox="1"/>
          <p:nvPr/>
        </p:nvSpPr>
        <p:spPr>
          <a:xfrm>
            <a:off x="543339" y="477078"/>
            <a:ext cx="2385392" cy="646331"/>
          </a:xfrm>
          <a:prstGeom prst="rect">
            <a:avLst/>
          </a:prstGeom>
          <a:noFill/>
        </p:spPr>
        <p:txBody>
          <a:bodyPr wrap="square" rtlCol="0">
            <a:spAutoFit/>
          </a:bodyPr>
          <a:lstStyle/>
          <a:p>
            <a:r>
              <a:rPr lang="en-US" sz="3600" b="1" dirty="0">
                <a:solidFill>
                  <a:schemeClr val="bg1"/>
                </a:solidFill>
              </a:rPr>
              <a:t>CONTENT</a:t>
            </a:r>
            <a:endParaRPr lang="en-IN" sz="3600" b="1" dirty="0">
              <a:solidFill>
                <a:schemeClr val="bg1"/>
              </a:solidFill>
            </a:endParaRPr>
          </a:p>
        </p:txBody>
      </p:sp>
      <p:grpSp>
        <p:nvGrpSpPr>
          <p:cNvPr id="56" name="Group 55"/>
          <p:cNvGrpSpPr/>
          <p:nvPr/>
        </p:nvGrpSpPr>
        <p:grpSpPr>
          <a:xfrm>
            <a:off x="4668370" y="4110493"/>
            <a:ext cx="3973286" cy="1404257"/>
            <a:chOff x="3447142" y="1248229"/>
            <a:chExt cx="5297715" cy="1872343"/>
          </a:xfrm>
        </p:grpSpPr>
        <p:sp>
          <p:nvSpPr>
            <p:cNvPr id="75" name="Freeform: Shape 74"/>
            <p:cNvSpPr/>
            <p:nvPr/>
          </p:nvSpPr>
          <p:spPr>
            <a:xfrm>
              <a:off x="3904342" y="2336800"/>
              <a:ext cx="4122057" cy="783772"/>
            </a:xfrm>
            <a:custGeom>
              <a:avLst/>
              <a:gdLst>
                <a:gd name="connsiteX0" fmla="*/ 0 w 4746172"/>
                <a:gd name="connsiteY0" fmla="*/ 0 h 2373087"/>
                <a:gd name="connsiteX1" fmla="*/ 4746172 w 4746172"/>
                <a:gd name="connsiteY1" fmla="*/ 0 h 2373087"/>
                <a:gd name="connsiteX2" fmla="*/ 4746172 w 4746172"/>
                <a:gd name="connsiteY2" fmla="*/ 1 h 2373087"/>
                <a:gd name="connsiteX3" fmla="*/ 2373086 w 4746172"/>
                <a:gd name="connsiteY3" fmla="*/ 2373087 h 2373087"/>
                <a:gd name="connsiteX4" fmla="*/ 0 w 4746172"/>
                <a:gd name="connsiteY4" fmla="*/ 1 h 2373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6172" h="2373087">
                  <a:moveTo>
                    <a:pt x="0" y="0"/>
                  </a:moveTo>
                  <a:lnTo>
                    <a:pt x="4746172" y="0"/>
                  </a:lnTo>
                  <a:lnTo>
                    <a:pt x="4746172" y="1"/>
                  </a:lnTo>
                  <a:cubicBezTo>
                    <a:pt x="4746172" y="1310620"/>
                    <a:pt x="3683705" y="2373087"/>
                    <a:pt x="2373086" y="2373087"/>
                  </a:cubicBezTo>
                  <a:cubicBezTo>
                    <a:pt x="1062467" y="2373087"/>
                    <a:pt x="0" y="1310620"/>
                    <a:pt x="0" y="1"/>
                  </a:cubicBezTo>
                  <a:close/>
                </a:path>
              </a:pathLst>
            </a:custGeom>
            <a:gradFill flip="none" rotWithShape="1">
              <a:gsLst>
                <a:gs pos="13000">
                  <a:schemeClr val="tx1">
                    <a:alpha val="60000"/>
                  </a:schemeClr>
                </a:gs>
                <a:gs pos="100000">
                  <a:srgbClr val="D7D8DC">
                    <a:alpha val="0"/>
                  </a:srgbClr>
                </a:gs>
              </a:gsLst>
              <a:lin ang="54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en-US" sz="1350">
                <a:effectLst/>
              </a:endParaRPr>
            </a:p>
          </p:txBody>
        </p:sp>
        <p:sp>
          <p:nvSpPr>
            <p:cNvPr id="76" name="Rectangle 75"/>
            <p:cNvSpPr/>
            <p:nvPr/>
          </p:nvSpPr>
          <p:spPr>
            <a:xfrm>
              <a:off x="3447142" y="1248229"/>
              <a:ext cx="5297715" cy="1262742"/>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en-US" sz="1350">
                <a:effectLst>
                  <a:outerShdw blurRad="63500" sx="102000" sy="102000" algn="ctr" rotWithShape="0">
                    <a:prstClr val="black">
                      <a:alpha val="40000"/>
                    </a:prstClr>
                  </a:outerShdw>
                </a:effectLst>
              </a:endParaRPr>
            </a:p>
          </p:txBody>
        </p:sp>
        <p:sp>
          <p:nvSpPr>
            <p:cNvPr id="77" name="Oval 76"/>
            <p:cNvSpPr/>
            <p:nvPr/>
          </p:nvSpPr>
          <p:spPr>
            <a:xfrm>
              <a:off x="4586513" y="1494970"/>
              <a:ext cx="747485" cy="747485"/>
            </a:xfrm>
            <a:prstGeom prst="ellipse">
              <a:avLst/>
            </a:prstGeom>
            <a:solidFill>
              <a:srgbClr val="23BF32"/>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en-US" sz="1350">
                <a:effectLst/>
              </a:endParaRPr>
            </a:p>
          </p:txBody>
        </p:sp>
        <p:sp>
          <p:nvSpPr>
            <p:cNvPr id="78" name="TextBox 77"/>
            <p:cNvSpPr txBox="1"/>
            <p:nvPr/>
          </p:nvSpPr>
          <p:spPr>
            <a:xfrm>
              <a:off x="4586513" y="1607102"/>
              <a:ext cx="747485" cy="553997"/>
            </a:xfrm>
            <a:prstGeom prst="rect">
              <a:avLst/>
            </a:prstGeom>
            <a:noFill/>
          </p:spPr>
          <p:txBody>
            <a:bodyPr wrap="square" rtlCol="0">
              <a:spAutoFit/>
              <a:scene3d>
                <a:camera prst="orthographicFront"/>
                <a:lightRig rig="threePt" dir="t"/>
              </a:scene3d>
            </a:bodyPr>
            <a:lstStyle/>
            <a:p>
              <a:pPr algn="ctr"/>
              <a:r>
                <a:rPr lang="en-US" sz="2100" b="1" dirty="0">
                  <a:solidFill>
                    <a:schemeClr val="bg1"/>
                  </a:solidFill>
                  <a:effectLst/>
                </a:rPr>
                <a:t>07</a:t>
              </a:r>
            </a:p>
          </p:txBody>
        </p:sp>
        <p:sp>
          <p:nvSpPr>
            <p:cNvPr id="79" name="TextBox 78"/>
            <p:cNvSpPr txBox="1"/>
            <p:nvPr/>
          </p:nvSpPr>
          <p:spPr>
            <a:xfrm>
              <a:off x="5407935" y="1314714"/>
              <a:ext cx="3336922" cy="1107996"/>
            </a:xfrm>
            <a:prstGeom prst="rect">
              <a:avLst/>
            </a:prstGeom>
            <a:noFill/>
          </p:spPr>
          <p:txBody>
            <a:bodyPr wrap="square" rtlCol="0">
              <a:spAutoFit/>
              <a:scene3d>
                <a:camera prst="orthographicFront"/>
                <a:lightRig rig="threePt" dir="t"/>
              </a:scene3d>
            </a:bodyPr>
            <a:lstStyle/>
            <a:p>
              <a:pPr algn="ctr"/>
              <a:r>
                <a:rPr lang="en-US" sz="1600" b="1" dirty="0">
                  <a:solidFill>
                    <a:srgbClr val="1A8D25"/>
                  </a:solidFill>
                  <a:effectLst/>
                </a:rPr>
                <a:t>ADVANTAGE &amp; DISADVANTAGE OF CLOUD COMPUTING</a:t>
              </a:r>
            </a:p>
          </p:txBody>
        </p:sp>
      </p:grpSp>
      <p:grpSp>
        <p:nvGrpSpPr>
          <p:cNvPr id="57" name="Group 56"/>
          <p:cNvGrpSpPr/>
          <p:nvPr/>
        </p:nvGrpSpPr>
        <p:grpSpPr>
          <a:xfrm>
            <a:off x="4668370" y="5340978"/>
            <a:ext cx="3973286" cy="947057"/>
            <a:chOff x="3447142" y="1264841"/>
            <a:chExt cx="5297715" cy="1262743"/>
          </a:xfrm>
        </p:grpSpPr>
        <p:sp>
          <p:nvSpPr>
            <p:cNvPr id="71" name="Rectangle 70"/>
            <p:cNvSpPr/>
            <p:nvPr/>
          </p:nvSpPr>
          <p:spPr>
            <a:xfrm>
              <a:off x="3447142" y="1264841"/>
              <a:ext cx="5297715" cy="1262743"/>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2" name="Oval 71"/>
            <p:cNvSpPr/>
            <p:nvPr/>
          </p:nvSpPr>
          <p:spPr>
            <a:xfrm>
              <a:off x="4586513" y="1494970"/>
              <a:ext cx="747485" cy="747485"/>
            </a:xfrm>
            <a:prstGeom prst="ellipse">
              <a:avLst/>
            </a:prstGeom>
            <a:solidFill>
              <a:srgbClr val="C93C25"/>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p:cNvSpPr txBox="1"/>
            <p:nvPr/>
          </p:nvSpPr>
          <p:spPr>
            <a:xfrm>
              <a:off x="4586513" y="1607102"/>
              <a:ext cx="747485" cy="553997"/>
            </a:xfrm>
            <a:prstGeom prst="rect">
              <a:avLst/>
            </a:prstGeom>
            <a:noFill/>
          </p:spPr>
          <p:txBody>
            <a:bodyPr wrap="square" rtlCol="0">
              <a:spAutoFit/>
            </a:bodyPr>
            <a:lstStyle/>
            <a:p>
              <a:pPr algn="ctr"/>
              <a:r>
                <a:rPr lang="en-US" sz="2100" b="1" dirty="0">
                  <a:solidFill>
                    <a:schemeClr val="bg1"/>
                  </a:solidFill>
                </a:rPr>
                <a:t>08</a:t>
              </a:r>
            </a:p>
          </p:txBody>
        </p:sp>
        <p:sp>
          <p:nvSpPr>
            <p:cNvPr id="74" name="TextBox 73"/>
            <p:cNvSpPr txBox="1"/>
            <p:nvPr/>
          </p:nvSpPr>
          <p:spPr>
            <a:xfrm>
              <a:off x="5476410" y="1592460"/>
              <a:ext cx="1560285" cy="451405"/>
            </a:xfrm>
            <a:prstGeom prst="rect">
              <a:avLst/>
            </a:prstGeom>
            <a:noFill/>
          </p:spPr>
          <p:txBody>
            <a:bodyPr wrap="square" rtlCol="0">
              <a:spAutoFit/>
            </a:bodyPr>
            <a:lstStyle/>
            <a:p>
              <a:pPr algn="ctr"/>
              <a:r>
                <a:rPr lang="en-US" sz="1600" b="1" dirty="0">
                  <a:solidFill>
                    <a:srgbClr val="8C2A1A"/>
                  </a:solidFill>
                </a:rPr>
                <a:t>REFERENCE</a:t>
              </a:r>
            </a:p>
          </p:txBody>
        </p:sp>
      </p:grpSp>
      <p:grpSp>
        <p:nvGrpSpPr>
          <p:cNvPr id="4" name="Group 3"/>
          <p:cNvGrpSpPr/>
          <p:nvPr/>
        </p:nvGrpSpPr>
        <p:grpSpPr>
          <a:xfrm>
            <a:off x="4668370" y="2880008"/>
            <a:ext cx="3973286" cy="1404257"/>
            <a:chOff x="4668370" y="3327781"/>
            <a:chExt cx="3973286" cy="1404257"/>
          </a:xfrm>
        </p:grpSpPr>
        <p:sp>
          <p:nvSpPr>
            <p:cNvPr id="65" name="Freeform: Shape 64"/>
            <p:cNvSpPr/>
            <p:nvPr/>
          </p:nvSpPr>
          <p:spPr>
            <a:xfrm>
              <a:off x="5011270" y="4144209"/>
              <a:ext cx="3091543" cy="587829"/>
            </a:xfrm>
            <a:custGeom>
              <a:avLst/>
              <a:gdLst>
                <a:gd name="connsiteX0" fmla="*/ 0 w 4746172"/>
                <a:gd name="connsiteY0" fmla="*/ 0 h 2373087"/>
                <a:gd name="connsiteX1" fmla="*/ 4746172 w 4746172"/>
                <a:gd name="connsiteY1" fmla="*/ 0 h 2373087"/>
                <a:gd name="connsiteX2" fmla="*/ 4746172 w 4746172"/>
                <a:gd name="connsiteY2" fmla="*/ 1 h 2373087"/>
                <a:gd name="connsiteX3" fmla="*/ 2373086 w 4746172"/>
                <a:gd name="connsiteY3" fmla="*/ 2373087 h 2373087"/>
                <a:gd name="connsiteX4" fmla="*/ 0 w 4746172"/>
                <a:gd name="connsiteY4" fmla="*/ 1 h 2373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6172" h="2373087">
                  <a:moveTo>
                    <a:pt x="0" y="0"/>
                  </a:moveTo>
                  <a:lnTo>
                    <a:pt x="4746172" y="0"/>
                  </a:lnTo>
                  <a:lnTo>
                    <a:pt x="4746172" y="1"/>
                  </a:lnTo>
                  <a:cubicBezTo>
                    <a:pt x="4746172" y="1310620"/>
                    <a:pt x="3683705" y="2373087"/>
                    <a:pt x="2373086" y="2373087"/>
                  </a:cubicBezTo>
                  <a:cubicBezTo>
                    <a:pt x="1062467" y="2373087"/>
                    <a:pt x="0" y="1310620"/>
                    <a:pt x="0" y="1"/>
                  </a:cubicBezTo>
                  <a:close/>
                </a:path>
              </a:pathLst>
            </a:custGeom>
            <a:gradFill flip="none" rotWithShape="1">
              <a:gsLst>
                <a:gs pos="13000">
                  <a:schemeClr val="tx1">
                    <a:alpha val="60000"/>
                  </a:schemeClr>
                </a:gs>
                <a:gs pos="100000">
                  <a:srgbClr val="D7D8DC">
                    <a:alpha val="0"/>
                  </a:srgbClr>
                </a:gs>
              </a:gsLst>
              <a:lin ang="54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6" name="Rectangle 65"/>
            <p:cNvSpPr/>
            <p:nvPr/>
          </p:nvSpPr>
          <p:spPr>
            <a:xfrm>
              <a:off x="4668370" y="3327781"/>
              <a:ext cx="3973286" cy="947056"/>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7" name="Oval 66"/>
            <p:cNvSpPr/>
            <p:nvPr/>
          </p:nvSpPr>
          <p:spPr>
            <a:xfrm>
              <a:off x="5522898" y="3512837"/>
              <a:ext cx="560614" cy="560614"/>
            </a:xfrm>
            <a:prstGeom prst="ellipse">
              <a:avLst/>
            </a:prstGeom>
            <a:solidFill>
              <a:srgbClr val="003399"/>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8" name="TextBox 67"/>
            <p:cNvSpPr txBox="1"/>
            <p:nvPr/>
          </p:nvSpPr>
          <p:spPr>
            <a:xfrm>
              <a:off x="5522898" y="3596936"/>
              <a:ext cx="560614" cy="415498"/>
            </a:xfrm>
            <a:prstGeom prst="rect">
              <a:avLst/>
            </a:prstGeom>
            <a:noFill/>
          </p:spPr>
          <p:txBody>
            <a:bodyPr wrap="square" rtlCol="0">
              <a:spAutoFit/>
            </a:bodyPr>
            <a:lstStyle/>
            <a:p>
              <a:pPr algn="ctr"/>
              <a:r>
                <a:rPr lang="en-US" sz="2100" b="1" dirty="0">
                  <a:solidFill>
                    <a:schemeClr val="bg1"/>
                  </a:solidFill>
                </a:rPr>
                <a:t>06</a:t>
              </a:r>
            </a:p>
          </p:txBody>
        </p:sp>
        <p:sp>
          <p:nvSpPr>
            <p:cNvPr id="69" name="TextBox 68"/>
            <p:cNvSpPr txBox="1"/>
            <p:nvPr/>
          </p:nvSpPr>
          <p:spPr>
            <a:xfrm>
              <a:off x="6215465" y="3592605"/>
              <a:ext cx="1596282" cy="338554"/>
            </a:xfrm>
            <a:prstGeom prst="rect">
              <a:avLst/>
            </a:prstGeom>
            <a:noFill/>
          </p:spPr>
          <p:txBody>
            <a:bodyPr wrap="square" rtlCol="0">
              <a:spAutoFit/>
            </a:bodyPr>
            <a:lstStyle/>
            <a:p>
              <a:pPr algn="ctr"/>
              <a:r>
                <a:rPr lang="en-US" sz="1600" b="1" dirty="0">
                  <a:solidFill>
                    <a:srgbClr val="002B80"/>
                  </a:solidFill>
                </a:rPr>
                <a:t>NIST MODEL</a:t>
              </a:r>
            </a:p>
          </p:txBody>
        </p:sp>
      </p:grpSp>
      <p:grpSp>
        <p:nvGrpSpPr>
          <p:cNvPr id="59" name="Group 58"/>
          <p:cNvGrpSpPr/>
          <p:nvPr/>
        </p:nvGrpSpPr>
        <p:grpSpPr>
          <a:xfrm>
            <a:off x="4656281" y="1679415"/>
            <a:ext cx="3973286" cy="1404257"/>
            <a:chOff x="3447142" y="1248229"/>
            <a:chExt cx="5297715" cy="1872343"/>
          </a:xfrm>
        </p:grpSpPr>
        <p:sp>
          <p:nvSpPr>
            <p:cNvPr id="60" name="Freeform: Shape 59"/>
            <p:cNvSpPr/>
            <p:nvPr/>
          </p:nvSpPr>
          <p:spPr>
            <a:xfrm>
              <a:off x="3904342" y="2336800"/>
              <a:ext cx="4122057" cy="783772"/>
            </a:xfrm>
            <a:custGeom>
              <a:avLst/>
              <a:gdLst>
                <a:gd name="connsiteX0" fmla="*/ 0 w 4746172"/>
                <a:gd name="connsiteY0" fmla="*/ 0 h 2373087"/>
                <a:gd name="connsiteX1" fmla="*/ 4746172 w 4746172"/>
                <a:gd name="connsiteY1" fmla="*/ 0 h 2373087"/>
                <a:gd name="connsiteX2" fmla="*/ 4746172 w 4746172"/>
                <a:gd name="connsiteY2" fmla="*/ 1 h 2373087"/>
                <a:gd name="connsiteX3" fmla="*/ 2373086 w 4746172"/>
                <a:gd name="connsiteY3" fmla="*/ 2373087 h 2373087"/>
                <a:gd name="connsiteX4" fmla="*/ 0 w 4746172"/>
                <a:gd name="connsiteY4" fmla="*/ 1 h 2373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6172" h="2373087">
                  <a:moveTo>
                    <a:pt x="0" y="0"/>
                  </a:moveTo>
                  <a:lnTo>
                    <a:pt x="4746172" y="0"/>
                  </a:lnTo>
                  <a:lnTo>
                    <a:pt x="4746172" y="1"/>
                  </a:lnTo>
                  <a:cubicBezTo>
                    <a:pt x="4746172" y="1310620"/>
                    <a:pt x="3683705" y="2373087"/>
                    <a:pt x="2373086" y="2373087"/>
                  </a:cubicBezTo>
                  <a:cubicBezTo>
                    <a:pt x="1062467" y="2373087"/>
                    <a:pt x="0" y="1310620"/>
                    <a:pt x="0" y="1"/>
                  </a:cubicBezTo>
                  <a:close/>
                </a:path>
              </a:pathLst>
            </a:custGeom>
            <a:gradFill flip="none" rotWithShape="1">
              <a:gsLst>
                <a:gs pos="13000">
                  <a:schemeClr val="tx1">
                    <a:alpha val="60000"/>
                  </a:schemeClr>
                </a:gs>
                <a:gs pos="100000">
                  <a:srgbClr val="D7D8DC">
                    <a:alpha val="0"/>
                  </a:srgbClr>
                </a:gs>
              </a:gsLst>
              <a:lin ang="54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Rectangle 60"/>
            <p:cNvSpPr/>
            <p:nvPr/>
          </p:nvSpPr>
          <p:spPr>
            <a:xfrm>
              <a:off x="3447142" y="1248229"/>
              <a:ext cx="5297715" cy="1262742"/>
            </a:xfrm>
            <a:prstGeom prst="rect">
              <a:avLst/>
            </a:prstGeom>
            <a:gradFill flip="none" rotWithShape="1">
              <a:gsLst>
                <a:gs pos="10000">
                  <a:srgbClr val="D7D8DC"/>
                </a:gs>
                <a:gs pos="35000">
                  <a:srgbClr val="F3F3F3"/>
                </a:gs>
                <a:gs pos="64000">
                  <a:srgbClr val="F3F3F3"/>
                </a:gs>
                <a:gs pos="96000">
                  <a:srgbClr val="D7D8D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2" name="Oval 61"/>
            <p:cNvSpPr/>
            <p:nvPr/>
          </p:nvSpPr>
          <p:spPr>
            <a:xfrm>
              <a:off x="4586513" y="1494970"/>
              <a:ext cx="747485" cy="747485"/>
            </a:xfrm>
            <a:prstGeom prst="ellipse">
              <a:avLst/>
            </a:prstGeom>
            <a:solidFill>
              <a:srgbClr val="2E9A33"/>
            </a:solidFill>
            <a:ln>
              <a:noFill/>
            </a:ln>
            <a:effectLst>
              <a:innerShdw blurRad="266700" dist="762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TextBox 62"/>
            <p:cNvSpPr txBox="1"/>
            <p:nvPr/>
          </p:nvSpPr>
          <p:spPr>
            <a:xfrm>
              <a:off x="4586513" y="1607102"/>
              <a:ext cx="747485" cy="553997"/>
            </a:xfrm>
            <a:prstGeom prst="rect">
              <a:avLst/>
            </a:prstGeom>
            <a:noFill/>
          </p:spPr>
          <p:txBody>
            <a:bodyPr wrap="square" rtlCol="0">
              <a:spAutoFit/>
            </a:bodyPr>
            <a:lstStyle/>
            <a:p>
              <a:pPr algn="ctr"/>
              <a:r>
                <a:rPr lang="en-US" sz="2100" b="1" dirty="0">
                  <a:solidFill>
                    <a:schemeClr val="bg1"/>
                  </a:solidFill>
                </a:rPr>
                <a:t>05</a:t>
              </a:r>
            </a:p>
          </p:txBody>
        </p:sp>
        <p:sp>
          <p:nvSpPr>
            <p:cNvPr id="64" name="TextBox 63"/>
            <p:cNvSpPr txBox="1"/>
            <p:nvPr/>
          </p:nvSpPr>
          <p:spPr>
            <a:xfrm>
              <a:off x="5158970" y="1473416"/>
              <a:ext cx="3549379" cy="779700"/>
            </a:xfrm>
            <a:prstGeom prst="rect">
              <a:avLst/>
            </a:prstGeom>
            <a:noFill/>
          </p:spPr>
          <p:txBody>
            <a:bodyPr wrap="square" rtlCol="0">
              <a:spAutoFit/>
            </a:bodyPr>
            <a:lstStyle/>
            <a:p>
              <a:pPr algn="ctr"/>
              <a:r>
                <a:rPr lang="en-US" sz="1600" b="1" dirty="0">
                  <a:solidFill>
                    <a:srgbClr val="27832B"/>
                  </a:solidFill>
                </a:rPr>
                <a:t>COMPONENTS &amp; ARCHITECTURE OF CLOUD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fill="hold"/>
                                        <p:tgtEl>
                                          <p:spTgt spid="35"/>
                                        </p:tgtEl>
                                        <p:attrNameLst>
                                          <p:attrName>ppt_x</p:attrName>
                                        </p:attrNameLst>
                                      </p:cBhvr>
                                      <p:tavLst>
                                        <p:tav tm="0">
                                          <p:val>
                                            <p:strVal val="0-#ppt_w/2"/>
                                          </p:val>
                                        </p:tav>
                                        <p:tav tm="100000">
                                          <p:val>
                                            <p:strVal val="#ppt_x"/>
                                          </p:val>
                                        </p:tav>
                                      </p:tavLst>
                                    </p:anim>
                                    <p:anim calcmode="lin" valueType="num">
                                      <p:cBhvr additive="base">
                                        <p:cTn id="13" dur="500" fill="hold"/>
                                        <p:tgtEl>
                                          <p:spTgt spid="3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0-#ppt_w/2"/>
                                          </p:val>
                                        </p:tav>
                                        <p:tav tm="100000">
                                          <p:val>
                                            <p:strVal val="#ppt_x"/>
                                          </p:val>
                                        </p:tav>
                                      </p:tavLst>
                                    </p:anim>
                                    <p:anim calcmode="lin" valueType="num">
                                      <p:cBhvr additive="base">
                                        <p:cTn id="18" dur="500" fill="hold"/>
                                        <p:tgtEl>
                                          <p:spTgt spid="2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0-#ppt_w/2"/>
                                          </p:val>
                                        </p:tav>
                                        <p:tav tm="100000">
                                          <p:val>
                                            <p:strVal val="#ppt_x"/>
                                          </p:val>
                                        </p:tav>
                                      </p:tavLst>
                                    </p:anim>
                                    <p:anim calcmode="lin" valueType="num">
                                      <p:cBhvr additive="base">
                                        <p:cTn id="23" dur="500" fill="hold"/>
                                        <p:tgtEl>
                                          <p:spTgt spid="42"/>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1+#ppt_w/2"/>
                                          </p:val>
                                        </p:tav>
                                        <p:tav tm="100000">
                                          <p:val>
                                            <p:strVal val="#ppt_x"/>
                                          </p:val>
                                        </p:tav>
                                      </p:tavLst>
                                    </p:anim>
                                    <p:anim calcmode="lin" valueType="num">
                                      <p:cBhvr additive="base">
                                        <p:cTn id="28" dur="500" fill="hold"/>
                                        <p:tgtEl>
                                          <p:spTgt spid="59"/>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1+#ppt_w/2"/>
                                          </p:val>
                                        </p:tav>
                                        <p:tav tm="100000">
                                          <p:val>
                                            <p:strVal val="#ppt_x"/>
                                          </p:val>
                                        </p:tav>
                                      </p:tavLst>
                                    </p:anim>
                                    <p:anim calcmode="lin" valueType="num">
                                      <p:cBhvr additive="base">
                                        <p:cTn id="33" dur="500" fill="hold"/>
                                        <p:tgtEl>
                                          <p:spTgt spid="4"/>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2" fill="hold" nodeType="afterEffect">
                                  <p:stCondLst>
                                    <p:cond delay="0"/>
                                  </p:stCondLst>
                                  <p:childTnLst>
                                    <p:set>
                                      <p:cBhvr>
                                        <p:cTn id="36" dur="1" fill="hold">
                                          <p:stCondLst>
                                            <p:cond delay="0"/>
                                          </p:stCondLst>
                                        </p:cTn>
                                        <p:tgtEl>
                                          <p:spTgt spid="56"/>
                                        </p:tgtEl>
                                        <p:attrNameLst>
                                          <p:attrName>style.visibility</p:attrName>
                                        </p:attrNameLst>
                                      </p:cBhvr>
                                      <p:to>
                                        <p:strVal val="visible"/>
                                      </p:to>
                                    </p:set>
                                    <p:anim calcmode="lin" valueType="num">
                                      <p:cBhvr additive="base">
                                        <p:cTn id="37" dur="500" fill="hold"/>
                                        <p:tgtEl>
                                          <p:spTgt spid="56"/>
                                        </p:tgtEl>
                                        <p:attrNameLst>
                                          <p:attrName>ppt_x</p:attrName>
                                        </p:attrNameLst>
                                      </p:cBhvr>
                                      <p:tavLst>
                                        <p:tav tm="0">
                                          <p:val>
                                            <p:strVal val="1+#ppt_w/2"/>
                                          </p:val>
                                        </p:tav>
                                        <p:tav tm="100000">
                                          <p:val>
                                            <p:strVal val="#ppt_x"/>
                                          </p:val>
                                        </p:tav>
                                      </p:tavLst>
                                    </p:anim>
                                    <p:anim calcmode="lin" valueType="num">
                                      <p:cBhvr additive="base">
                                        <p:cTn id="38" dur="500" fill="hold"/>
                                        <p:tgtEl>
                                          <p:spTgt spid="56"/>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2" fill="hold" nodeType="afterEffect">
                                  <p:stCondLst>
                                    <p:cond delay="0"/>
                                  </p:stCondLst>
                                  <p:childTnLst>
                                    <p:set>
                                      <p:cBhvr>
                                        <p:cTn id="41" dur="1" fill="hold">
                                          <p:stCondLst>
                                            <p:cond delay="0"/>
                                          </p:stCondLst>
                                        </p:cTn>
                                        <p:tgtEl>
                                          <p:spTgt spid="57"/>
                                        </p:tgtEl>
                                        <p:attrNameLst>
                                          <p:attrName>style.visibility</p:attrName>
                                        </p:attrNameLst>
                                      </p:cBhvr>
                                      <p:to>
                                        <p:strVal val="visible"/>
                                      </p:to>
                                    </p:set>
                                    <p:anim calcmode="lin" valueType="num">
                                      <p:cBhvr additive="base">
                                        <p:cTn id="42" dur="500" fill="hold"/>
                                        <p:tgtEl>
                                          <p:spTgt spid="57"/>
                                        </p:tgtEl>
                                        <p:attrNameLst>
                                          <p:attrName>ppt_x</p:attrName>
                                        </p:attrNameLst>
                                      </p:cBhvr>
                                      <p:tavLst>
                                        <p:tav tm="0">
                                          <p:val>
                                            <p:strVal val="1+#ppt_w/2"/>
                                          </p:val>
                                        </p:tav>
                                        <p:tav tm="100000">
                                          <p:val>
                                            <p:strVal val="#ppt_x"/>
                                          </p:val>
                                        </p:tav>
                                      </p:tavLst>
                                    </p:anim>
                                    <p:anim calcmode="lin" valueType="num">
                                      <p:cBhvr additive="base">
                                        <p:cTn id="43"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332656"/>
            <a:ext cx="8568952" cy="6014559"/>
            <a:chOff x="395536" y="119123"/>
            <a:chExt cx="8568952" cy="6014559"/>
          </a:xfrm>
        </p:grpSpPr>
        <p:sp>
          <p:nvSpPr>
            <p:cNvPr id="5" name="Flowchart: Alternate Process 4"/>
            <p:cNvSpPr/>
            <p:nvPr/>
          </p:nvSpPr>
          <p:spPr>
            <a:xfrm>
              <a:off x="395536" y="119123"/>
              <a:ext cx="5066062" cy="1464867"/>
            </a:xfrm>
            <a:prstGeom prst="flowChartAlternateProcess">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3600" b="1" dirty="0">
                  <a:solidFill>
                    <a:schemeClr val="bg1"/>
                  </a:solidFill>
                </a:rPr>
                <a:t>INTRODUCTION OF CLOUD COMPUTING</a:t>
              </a:r>
              <a:endParaRPr lang="en-IN" sz="3600" b="1" dirty="0">
                <a:solidFill>
                  <a:schemeClr val="bg1"/>
                </a:solidFill>
              </a:endParaRPr>
            </a:p>
          </p:txBody>
        </p:sp>
        <p:sp>
          <p:nvSpPr>
            <p:cNvPr id="3" name="Rectangle 2"/>
            <p:cNvSpPr/>
            <p:nvPr/>
          </p:nvSpPr>
          <p:spPr>
            <a:xfrm>
              <a:off x="395536" y="1472406"/>
              <a:ext cx="8208911" cy="4661276"/>
            </a:xfrm>
            <a:prstGeom prst="rect">
              <a:avLst/>
            </a:prstGeom>
          </p:spPr>
          <p:txBody>
            <a:bodyPr wrap="square">
              <a:spAutoFit/>
            </a:bodyPr>
            <a:lstStyle/>
            <a:p>
              <a:pPr algn="just">
                <a:lnSpc>
                  <a:spcPct val="150000"/>
                </a:lnSpc>
              </a:pPr>
              <a:r>
                <a:rPr lang="en-US" sz="2000" dirty="0">
                  <a:solidFill>
                    <a:schemeClr val="bg1"/>
                  </a:solidFill>
                </a:rPr>
                <a:t>Cloud computing is a paradigm of distributed computing to provide the customers on-demand, utility based computing services. Cloud users can provide more reliable, available and updated services to their clients in turn. Cloud itself consists of physical machines in the data centers of cloud providers. Virtualization is provided on top of these physical machines. These virtual machines are provided to the cloud users. Different cloud provider provides cloud services of different abstraction level. E.g. Amazon EC2 enables the users to handle very low level details where Google App-Engine provides a development platform for the developers to develop their applications. </a:t>
              </a:r>
            </a:p>
          </p:txBody>
        </p:sp>
        <p:grpSp>
          <p:nvGrpSpPr>
            <p:cNvPr id="18" name="Group 17"/>
            <p:cNvGrpSpPr/>
            <p:nvPr/>
          </p:nvGrpSpPr>
          <p:grpSpPr>
            <a:xfrm>
              <a:off x="6804248" y="129449"/>
              <a:ext cx="2160240" cy="1420546"/>
              <a:chOff x="6804248" y="129448"/>
              <a:chExt cx="2339752" cy="1705661"/>
            </a:xfrm>
          </p:grpSpPr>
          <p:grpSp>
            <p:nvGrpSpPr>
              <p:cNvPr id="19" name="Group 18"/>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25" name="Rounded Rectangle 10"/>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0" name="Group 19"/>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21" name="Rounded Rectangle 6"/>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pic>
        <p:nvPicPr>
          <p:cNvPr id="2" name="Content Placeholder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692696"/>
            <a:ext cx="8582338" cy="53892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383019"/>
            <a:ext cx="8336479" cy="6091961"/>
            <a:chOff x="267969" y="260648"/>
            <a:chExt cx="8336479" cy="6091961"/>
          </a:xfrm>
        </p:grpSpPr>
        <p:pic>
          <p:nvPicPr>
            <p:cNvPr id="3" name="Picture 2"/>
            <p:cNvPicPr>
              <a:picLocks noChangeAspect="1"/>
            </p:cNvPicPr>
            <p:nvPr/>
          </p:nvPicPr>
          <p:blipFill>
            <a:blip r:embed="rId2"/>
            <a:stretch>
              <a:fillRect/>
            </a:stretch>
          </p:blipFill>
          <p:spPr>
            <a:xfrm>
              <a:off x="755576" y="1628800"/>
              <a:ext cx="7848872" cy="4723809"/>
            </a:xfrm>
            <a:prstGeom prst="rect">
              <a:avLst/>
            </a:prstGeom>
            <a:ln>
              <a:noFill/>
            </a:ln>
            <a:effectLst>
              <a:outerShdw blurRad="292100" dist="139700" dir="2700000" algn="tl" rotWithShape="0">
                <a:srgbClr val="333333">
                  <a:alpha val="65000"/>
                </a:srgbClr>
              </a:outerShdw>
            </a:effectLst>
          </p:spPr>
        </p:pic>
        <p:sp>
          <p:nvSpPr>
            <p:cNvPr id="4" name="TextBox 3"/>
            <p:cNvSpPr txBox="1"/>
            <p:nvPr/>
          </p:nvSpPr>
          <p:spPr>
            <a:xfrm>
              <a:off x="267969" y="260648"/>
              <a:ext cx="6480720" cy="1200329"/>
            </a:xfrm>
            <a:prstGeom prst="rect">
              <a:avLst/>
            </a:prstGeom>
            <a:noFill/>
          </p:spPr>
          <p:txBody>
            <a:bodyPr wrap="square" rtlCol="0">
              <a:spAutoFit/>
            </a:bodyPr>
            <a:lstStyle/>
            <a:p>
              <a:r>
                <a:rPr lang="en-US" sz="3600" b="1" dirty="0">
                  <a:solidFill>
                    <a:schemeClr val="bg1"/>
                  </a:solidFill>
                </a:rPr>
                <a:t> EVOLUTION OF VARIOUS CLOUD COMPUTING</a:t>
              </a:r>
              <a:endParaRPr lang="en-IN" sz="3600" b="1" dirty="0">
                <a:solidFill>
                  <a:schemeClr val="bg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grpSp>
        <p:nvGrpSpPr>
          <p:cNvPr id="2" name="Group 1"/>
          <p:cNvGrpSpPr/>
          <p:nvPr/>
        </p:nvGrpSpPr>
        <p:grpSpPr>
          <a:xfrm>
            <a:off x="108303" y="404664"/>
            <a:ext cx="9035697" cy="5873582"/>
            <a:chOff x="155521" y="90634"/>
            <a:chExt cx="9035697" cy="5873582"/>
          </a:xfrm>
        </p:grpSpPr>
        <p:grpSp>
          <p:nvGrpSpPr>
            <p:cNvPr id="89" name="Group 88"/>
            <p:cNvGrpSpPr/>
            <p:nvPr/>
          </p:nvGrpSpPr>
          <p:grpSpPr>
            <a:xfrm>
              <a:off x="179512" y="1700809"/>
              <a:ext cx="9011706" cy="4263407"/>
              <a:chOff x="179512" y="2503021"/>
              <a:chExt cx="9011706" cy="4103623"/>
            </a:xfrm>
          </p:grpSpPr>
          <p:sp>
            <p:nvSpPr>
              <p:cNvPr id="78" name="TextBox 77"/>
              <p:cNvSpPr txBox="1"/>
              <p:nvPr/>
            </p:nvSpPr>
            <p:spPr>
              <a:xfrm>
                <a:off x="2839964" y="6237312"/>
                <a:ext cx="1007646" cy="369332"/>
              </a:xfrm>
              <a:prstGeom prst="rect">
                <a:avLst/>
              </a:prstGeom>
              <a:noFill/>
            </p:spPr>
            <p:txBody>
              <a:bodyPr wrap="square" rtlCol="0">
                <a:spAutoFit/>
              </a:bodyPr>
              <a:lstStyle/>
              <a:p>
                <a:pPr algn="ctr"/>
                <a:r>
                  <a:rPr lang="en-US" b="1" dirty="0"/>
                  <a:t>1960s</a:t>
                </a:r>
                <a:endParaRPr lang="en-IN" b="1" dirty="0"/>
              </a:p>
            </p:txBody>
          </p:sp>
          <p:sp>
            <p:nvSpPr>
              <p:cNvPr id="79" name="TextBox 78"/>
              <p:cNvSpPr txBox="1"/>
              <p:nvPr/>
            </p:nvSpPr>
            <p:spPr>
              <a:xfrm>
                <a:off x="6444761" y="6237312"/>
                <a:ext cx="1007646" cy="369332"/>
              </a:xfrm>
              <a:prstGeom prst="rect">
                <a:avLst/>
              </a:prstGeom>
              <a:noFill/>
            </p:spPr>
            <p:txBody>
              <a:bodyPr wrap="square" rtlCol="0">
                <a:spAutoFit/>
              </a:bodyPr>
              <a:lstStyle/>
              <a:p>
                <a:pPr algn="ctr"/>
                <a:r>
                  <a:rPr lang="en-US" b="1" dirty="0"/>
                  <a:t>2000</a:t>
                </a:r>
                <a:endParaRPr lang="en-IN" b="1" dirty="0"/>
              </a:p>
            </p:txBody>
          </p:sp>
          <p:cxnSp>
            <p:nvCxnSpPr>
              <p:cNvPr id="31" name="Straight Connector 30"/>
              <p:cNvCxnSpPr/>
              <p:nvPr/>
            </p:nvCxnSpPr>
            <p:spPr>
              <a:xfrm>
                <a:off x="7389104" y="4764543"/>
                <a:ext cx="7930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0" name="Arc 29"/>
              <p:cNvSpPr/>
              <p:nvPr/>
            </p:nvSpPr>
            <p:spPr>
              <a:xfrm>
                <a:off x="8182144" y="4296025"/>
                <a:ext cx="854353" cy="937036"/>
              </a:xfrm>
              <a:prstGeom prst="arc">
                <a:avLst>
                  <a:gd name="adj1" fmla="val 16104873"/>
                  <a:gd name="adj2" fmla="val 10841863"/>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32" name="Straight Connector 31"/>
              <p:cNvCxnSpPr/>
              <p:nvPr/>
            </p:nvCxnSpPr>
            <p:spPr>
              <a:xfrm flipV="1">
                <a:off x="8609320" y="3150184"/>
                <a:ext cx="0" cy="1145841"/>
              </a:xfrm>
              <a:prstGeom prst="line">
                <a:avLst/>
              </a:prstGeom>
              <a:ln w="38100">
                <a:solidFill>
                  <a:srgbClr val="00B050"/>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33" name="Flowchart: Connector 32"/>
              <p:cNvSpPr/>
              <p:nvPr/>
            </p:nvSpPr>
            <p:spPr>
              <a:xfrm>
                <a:off x="8353689" y="4486747"/>
                <a:ext cx="511260" cy="555591"/>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05</a:t>
                </a:r>
                <a:endParaRPr lang="en-IN" sz="1100" dirty="0"/>
              </a:p>
            </p:txBody>
          </p:sp>
          <p:cxnSp>
            <p:nvCxnSpPr>
              <p:cNvPr id="60" name="Straight Connector 59"/>
              <p:cNvCxnSpPr/>
              <p:nvPr/>
            </p:nvCxnSpPr>
            <p:spPr>
              <a:xfrm rot="16200000" flipV="1">
                <a:off x="5969376" y="4225874"/>
                <a:ext cx="0" cy="1077368"/>
              </a:xfrm>
              <a:prstGeom prst="line">
                <a:avLst/>
              </a:prstGeom>
              <a:ln w="38100">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V="1">
                <a:off x="2364582" y="4225443"/>
                <a:ext cx="0" cy="1077368"/>
              </a:xfrm>
              <a:prstGeom prst="line">
                <a:avLst/>
              </a:prstGeom>
              <a:ln w="38100">
                <a:solidFill>
                  <a:schemeClr val="accent6">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784309" y="4763711"/>
                <a:ext cx="79255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6" name="Arc 45"/>
              <p:cNvSpPr/>
              <p:nvPr/>
            </p:nvSpPr>
            <p:spPr>
              <a:xfrm>
                <a:off x="972066" y="4296025"/>
                <a:ext cx="853830" cy="937037"/>
              </a:xfrm>
              <a:prstGeom prst="arc">
                <a:avLst>
                  <a:gd name="adj1" fmla="val 16104873"/>
                  <a:gd name="adj2" fmla="val 10841863"/>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47" name="Straight Connector 46"/>
              <p:cNvCxnSpPr/>
              <p:nvPr/>
            </p:nvCxnSpPr>
            <p:spPr>
              <a:xfrm>
                <a:off x="179512" y="4764544"/>
                <a:ext cx="792554" cy="0"/>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1398981" y="3150185"/>
                <a:ext cx="0" cy="1145841"/>
              </a:xfrm>
              <a:prstGeom prst="line">
                <a:avLst/>
              </a:prstGeom>
              <a:ln w="38100">
                <a:solidFill>
                  <a:schemeClr val="accent5">
                    <a:lumMod val="5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49" name="Flowchart: Connector 48"/>
              <p:cNvSpPr/>
              <p:nvPr/>
            </p:nvSpPr>
            <p:spPr>
              <a:xfrm>
                <a:off x="1143508" y="4486748"/>
                <a:ext cx="510947" cy="555591"/>
              </a:xfrm>
              <a:prstGeom prst="flowChartConnector">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01</a:t>
                </a:r>
                <a:endParaRPr lang="en-IN" sz="1100" dirty="0"/>
              </a:p>
            </p:txBody>
          </p:sp>
          <p:cxnSp>
            <p:nvCxnSpPr>
              <p:cNvPr id="50" name="Straight Connector 49"/>
              <p:cNvCxnSpPr/>
              <p:nvPr/>
            </p:nvCxnSpPr>
            <p:spPr>
              <a:xfrm rot="16200000">
                <a:off x="2909277" y="5666739"/>
                <a:ext cx="869018" cy="0"/>
              </a:xfrm>
              <a:prstGeom prst="line">
                <a:avLst/>
              </a:prstGeom>
              <a:ln w="38100">
                <a:solidFill>
                  <a:schemeClr val="accent6">
                    <a:lumMod val="75000"/>
                  </a:schemeClr>
                </a:solidFill>
                <a:headEnd type="oval"/>
              </a:ln>
            </p:spPr>
            <p:style>
              <a:lnRef idx="1">
                <a:schemeClr val="accent1"/>
              </a:lnRef>
              <a:fillRef idx="0">
                <a:schemeClr val="accent1"/>
              </a:fillRef>
              <a:effectRef idx="0">
                <a:schemeClr val="accent1"/>
              </a:effectRef>
              <a:fontRef idx="minor">
                <a:schemeClr val="tx1"/>
              </a:fontRef>
            </p:style>
          </p:cxnSp>
          <p:sp>
            <p:nvSpPr>
              <p:cNvPr id="51" name="Arc 50"/>
              <p:cNvSpPr/>
              <p:nvPr/>
            </p:nvSpPr>
            <p:spPr>
              <a:xfrm rot="16200000">
                <a:off x="2875685" y="4323606"/>
                <a:ext cx="936204" cy="881043"/>
              </a:xfrm>
              <a:prstGeom prst="arc">
                <a:avLst>
                  <a:gd name="adj1" fmla="val 16104873"/>
                  <a:gd name="adj2" fmla="val 10841863"/>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3" name="Flowchart: Connector 52"/>
              <p:cNvSpPr/>
              <p:nvPr/>
            </p:nvSpPr>
            <p:spPr>
              <a:xfrm>
                <a:off x="3088314" y="4486331"/>
                <a:ext cx="510947" cy="555591"/>
              </a:xfrm>
              <a:prstGeom prst="flowChartConnector">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02</a:t>
                </a:r>
                <a:endParaRPr lang="en-IN" sz="1200" dirty="0"/>
              </a:p>
            </p:txBody>
          </p:sp>
          <p:sp>
            <p:nvSpPr>
              <p:cNvPr id="54" name="Arc 53"/>
              <p:cNvSpPr/>
              <p:nvPr/>
            </p:nvSpPr>
            <p:spPr>
              <a:xfrm>
                <a:off x="4576863" y="4295193"/>
                <a:ext cx="853830" cy="937037"/>
              </a:xfrm>
              <a:prstGeom prst="arc">
                <a:avLst>
                  <a:gd name="adj1" fmla="val 16104873"/>
                  <a:gd name="adj2" fmla="val 10841863"/>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56" name="Straight Connector 55"/>
              <p:cNvCxnSpPr/>
              <p:nvPr/>
            </p:nvCxnSpPr>
            <p:spPr>
              <a:xfrm flipV="1">
                <a:off x="5003778" y="3149352"/>
                <a:ext cx="0" cy="1145841"/>
              </a:xfrm>
              <a:prstGeom prst="line">
                <a:avLst/>
              </a:prstGeom>
              <a:ln w="38100">
                <a:solidFill>
                  <a:srgbClr val="FFC000"/>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57" name="Flowchart: Connector 56"/>
              <p:cNvSpPr/>
              <p:nvPr/>
            </p:nvSpPr>
            <p:spPr>
              <a:xfrm>
                <a:off x="4748303" y="4485915"/>
                <a:ext cx="510947" cy="555591"/>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03</a:t>
                </a:r>
                <a:endParaRPr lang="en-IN" sz="1100" dirty="0"/>
              </a:p>
            </p:txBody>
          </p:sp>
          <p:cxnSp>
            <p:nvCxnSpPr>
              <p:cNvPr id="58" name="Straight Connector 57"/>
              <p:cNvCxnSpPr/>
              <p:nvPr/>
            </p:nvCxnSpPr>
            <p:spPr>
              <a:xfrm rot="16200000">
                <a:off x="6514072" y="5667171"/>
                <a:ext cx="869018" cy="0"/>
              </a:xfrm>
              <a:prstGeom prst="line">
                <a:avLst/>
              </a:prstGeom>
              <a:ln w="38100">
                <a:solidFill>
                  <a:schemeClr val="accent4"/>
                </a:solidFill>
                <a:headEnd type="oval"/>
              </a:ln>
            </p:spPr>
            <p:style>
              <a:lnRef idx="1">
                <a:schemeClr val="accent1"/>
              </a:lnRef>
              <a:fillRef idx="0">
                <a:schemeClr val="accent1"/>
              </a:fillRef>
              <a:effectRef idx="0">
                <a:schemeClr val="accent1"/>
              </a:effectRef>
              <a:fontRef idx="minor">
                <a:schemeClr val="tx1"/>
              </a:fontRef>
            </p:style>
          </p:cxnSp>
          <p:sp>
            <p:nvSpPr>
              <p:cNvPr id="59" name="Arc 58"/>
              <p:cNvSpPr/>
              <p:nvPr/>
            </p:nvSpPr>
            <p:spPr>
              <a:xfrm rot="16200000">
                <a:off x="6480480" y="4324037"/>
                <a:ext cx="936204" cy="881043"/>
              </a:xfrm>
              <a:prstGeom prst="arc">
                <a:avLst>
                  <a:gd name="adj1" fmla="val 16104873"/>
                  <a:gd name="adj2" fmla="val 10841863"/>
                </a:avLst>
              </a:prstGeom>
              <a:ln w="381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1" name="Flowchart: Connector 60"/>
              <p:cNvSpPr/>
              <p:nvPr/>
            </p:nvSpPr>
            <p:spPr>
              <a:xfrm>
                <a:off x="6693111" y="4486763"/>
                <a:ext cx="510947" cy="555591"/>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04</a:t>
                </a:r>
                <a:endParaRPr lang="en-IN" sz="1100" dirty="0"/>
              </a:p>
            </p:txBody>
          </p:sp>
          <p:cxnSp>
            <p:nvCxnSpPr>
              <p:cNvPr id="64" name="Straight Connector 63"/>
              <p:cNvCxnSpPr/>
              <p:nvPr/>
            </p:nvCxnSpPr>
            <p:spPr>
              <a:xfrm>
                <a:off x="179512" y="3501008"/>
                <a:ext cx="1080120" cy="0"/>
              </a:xfrm>
              <a:prstGeom prst="line">
                <a:avLst/>
              </a:prstGeom>
              <a:ln w="28575">
                <a:solidFill>
                  <a:schemeClr val="accent5">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2144019" y="5896669"/>
                <a:ext cx="1036004" cy="0"/>
              </a:xfrm>
              <a:prstGeom prst="line">
                <a:avLst/>
              </a:prstGeom>
              <a:ln w="28575">
                <a:solidFill>
                  <a:schemeClr val="accent6">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784309" y="3501008"/>
                <a:ext cx="1036004" cy="0"/>
              </a:xfrm>
              <a:prstGeom prst="line">
                <a:avLst/>
              </a:prstGeom>
              <a:ln w="28575">
                <a:solidFill>
                  <a:srgbClr val="FFC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5724128" y="5896669"/>
                <a:ext cx="1036004" cy="0"/>
              </a:xfrm>
              <a:prstGeom prst="line">
                <a:avLst/>
              </a:prstGeom>
              <a:ln w="28575">
                <a:solidFill>
                  <a:schemeClr val="accent4"/>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7389104" y="3502094"/>
                <a:ext cx="1036004" cy="0"/>
              </a:xfrm>
              <a:prstGeom prst="line">
                <a:avLst/>
              </a:prstGeom>
              <a:ln w="28575">
                <a:solidFill>
                  <a:srgbClr val="00B05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972066" y="2708920"/>
                <a:ext cx="1007646" cy="369332"/>
              </a:xfrm>
              <a:prstGeom prst="rect">
                <a:avLst/>
              </a:prstGeom>
              <a:noFill/>
            </p:spPr>
            <p:txBody>
              <a:bodyPr wrap="square" rtlCol="0">
                <a:spAutoFit/>
              </a:bodyPr>
              <a:lstStyle/>
              <a:p>
                <a:pPr algn="ctr"/>
                <a:r>
                  <a:rPr lang="en-US" b="1" dirty="0"/>
                  <a:t>1950s</a:t>
                </a:r>
                <a:endParaRPr lang="en-IN" b="1" dirty="0"/>
              </a:p>
            </p:txBody>
          </p:sp>
          <p:sp>
            <p:nvSpPr>
              <p:cNvPr id="76" name="TextBox 75"/>
              <p:cNvSpPr txBox="1"/>
              <p:nvPr/>
            </p:nvSpPr>
            <p:spPr>
              <a:xfrm>
                <a:off x="4499953" y="2708920"/>
                <a:ext cx="1007646" cy="369332"/>
              </a:xfrm>
              <a:prstGeom prst="rect">
                <a:avLst/>
              </a:prstGeom>
              <a:noFill/>
            </p:spPr>
            <p:txBody>
              <a:bodyPr wrap="square" rtlCol="0">
                <a:spAutoFit/>
              </a:bodyPr>
              <a:lstStyle/>
              <a:p>
                <a:pPr algn="ctr"/>
                <a:r>
                  <a:rPr lang="en-US" b="1" dirty="0"/>
                  <a:t>1990s</a:t>
                </a:r>
                <a:endParaRPr lang="en-IN" b="1" dirty="0"/>
              </a:p>
            </p:txBody>
          </p:sp>
          <p:sp>
            <p:nvSpPr>
              <p:cNvPr id="77" name="TextBox 76"/>
              <p:cNvSpPr txBox="1"/>
              <p:nvPr/>
            </p:nvSpPr>
            <p:spPr>
              <a:xfrm>
                <a:off x="8027420" y="2503021"/>
                <a:ext cx="1163798" cy="646331"/>
              </a:xfrm>
              <a:prstGeom prst="rect">
                <a:avLst/>
              </a:prstGeom>
              <a:noFill/>
            </p:spPr>
            <p:txBody>
              <a:bodyPr wrap="square" rtlCol="0">
                <a:spAutoFit/>
              </a:bodyPr>
              <a:lstStyle/>
              <a:p>
                <a:pPr algn="ctr"/>
                <a:r>
                  <a:rPr lang="en-US" b="1" dirty="0"/>
                  <a:t>Beyond 2010</a:t>
                </a:r>
                <a:endParaRPr lang="en-IN" b="1" dirty="0"/>
              </a:p>
            </p:txBody>
          </p:sp>
          <p:sp>
            <p:nvSpPr>
              <p:cNvPr id="80" name="TextBox 79"/>
              <p:cNvSpPr txBox="1"/>
              <p:nvPr/>
            </p:nvSpPr>
            <p:spPr>
              <a:xfrm>
                <a:off x="179512" y="3175858"/>
                <a:ext cx="1082219" cy="307777"/>
              </a:xfrm>
              <a:prstGeom prst="rect">
                <a:avLst/>
              </a:prstGeom>
              <a:noFill/>
            </p:spPr>
            <p:txBody>
              <a:bodyPr wrap="none" rtlCol="0">
                <a:spAutoFit/>
              </a:bodyPr>
              <a:lstStyle/>
              <a:p>
                <a:pPr algn="ctr"/>
                <a:r>
                  <a:rPr lang="en-US" sz="1400" b="1" dirty="0"/>
                  <a:t>Mainframes</a:t>
                </a:r>
                <a:endParaRPr lang="en-IN" sz="1400" b="1" dirty="0"/>
              </a:p>
            </p:txBody>
          </p:sp>
          <p:sp>
            <p:nvSpPr>
              <p:cNvPr id="81" name="TextBox 80"/>
              <p:cNvSpPr txBox="1"/>
              <p:nvPr/>
            </p:nvSpPr>
            <p:spPr>
              <a:xfrm>
                <a:off x="3714442" y="2978874"/>
                <a:ext cx="1295872" cy="523220"/>
              </a:xfrm>
              <a:prstGeom prst="rect">
                <a:avLst/>
              </a:prstGeom>
              <a:noFill/>
            </p:spPr>
            <p:txBody>
              <a:bodyPr wrap="square" rtlCol="0">
                <a:spAutoFit/>
              </a:bodyPr>
              <a:lstStyle/>
              <a:p>
                <a:pPr algn="ctr"/>
                <a:r>
                  <a:rPr lang="en-US" sz="1400" b="1" dirty="0"/>
                  <a:t>Client/Server Architecture</a:t>
                </a:r>
                <a:endParaRPr lang="en-IN" sz="1400" b="1" dirty="0"/>
              </a:p>
            </p:txBody>
          </p:sp>
          <p:sp>
            <p:nvSpPr>
              <p:cNvPr id="82" name="TextBox 81"/>
              <p:cNvSpPr txBox="1"/>
              <p:nvPr/>
            </p:nvSpPr>
            <p:spPr>
              <a:xfrm>
                <a:off x="7308305" y="2979777"/>
                <a:ext cx="1102482" cy="523220"/>
              </a:xfrm>
              <a:prstGeom prst="rect">
                <a:avLst/>
              </a:prstGeom>
              <a:noFill/>
            </p:spPr>
            <p:txBody>
              <a:bodyPr wrap="square" rtlCol="0">
                <a:spAutoFit/>
              </a:bodyPr>
              <a:lstStyle/>
              <a:p>
                <a:pPr algn="ctr"/>
                <a:r>
                  <a:rPr lang="en-US" sz="1400" b="1" dirty="0"/>
                  <a:t>Cloud Computing</a:t>
                </a:r>
                <a:endParaRPr lang="en-IN" sz="1400" b="1" dirty="0"/>
              </a:p>
            </p:txBody>
          </p:sp>
          <p:sp>
            <p:nvSpPr>
              <p:cNvPr id="83" name="TextBox 82"/>
              <p:cNvSpPr txBox="1"/>
              <p:nvPr/>
            </p:nvSpPr>
            <p:spPr>
              <a:xfrm>
                <a:off x="2144019" y="5405560"/>
                <a:ext cx="944295" cy="523220"/>
              </a:xfrm>
              <a:prstGeom prst="rect">
                <a:avLst/>
              </a:prstGeom>
              <a:noFill/>
            </p:spPr>
            <p:txBody>
              <a:bodyPr wrap="square" rtlCol="0">
                <a:spAutoFit/>
              </a:bodyPr>
              <a:lstStyle/>
              <a:p>
                <a:pPr algn="ctr"/>
                <a:r>
                  <a:rPr lang="en-US" sz="1400" b="1" dirty="0"/>
                  <a:t>Rise Of The PC</a:t>
                </a:r>
                <a:endParaRPr lang="en-IN" sz="1400" b="1" dirty="0"/>
              </a:p>
            </p:txBody>
          </p:sp>
          <p:sp>
            <p:nvSpPr>
              <p:cNvPr id="87" name="TextBox 86"/>
              <p:cNvSpPr txBox="1"/>
              <p:nvPr/>
            </p:nvSpPr>
            <p:spPr>
              <a:xfrm>
                <a:off x="5612924" y="5405560"/>
                <a:ext cx="1335658" cy="523220"/>
              </a:xfrm>
              <a:prstGeom prst="rect">
                <a:avLst/>
              </a:prstGeom>
              <a:noFill/>
            </p:spPr>
            <p:txBody>
              <a:bodyPr wrap="square" rtlCol="0">
                <a:spAutoFit/>
              </a:bodyPr>
              <a:lstStyle/>
              <a:p>
                <a:pPr algn="ctr"/>
                <a:r>
                  <a:rPr lang="en-US" sz="1400" b="1" dirty="0"/>
                  <a:t>Hosted Environment</a:t>
                </a:r>
                <a:endParaRPr lang="en-IN" sz="1400" b="1" dirty="0"/>
              </a:p>
            </p:txBody>
          </p:sp>
        </p:grpSp>
        <p:sp>
          <p:nvSpPr>
            <p:cNvPr id="90" name="TextBox 89"/>
            <p:cNvSpPr txBox="1"/>
            <p:nvPr/>
          </p:nvSpPr>
          <p:spPr>
            <a:xfrm>
              <a:off x="155521" y="404664"/>
              <a:ext cx="6887480" cy="646331"/>
            </a:xfrm>
            <a:prstGeom prst="rect">
              <a:avLst/>
            </a:prstGeom>
            <a:noFill/>
          </p:spPr>
          <p:txBody>
            <a:bodyPr wrap="square" rtlCol="0">
              <a:spAutoFit/>
            </a:bodyPr>
            <a:lstStyle/>
            <a:p>
              <a:r>
                <a:rPr lang="en-US" sz="3600" b="1" dirty="0"/>
                <a:t>TIMELINE OF CLOUD COMPUTING</a:t>
              </a:r>
              <a:endParaRPr lang="en-IN" sz="3600"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887" y="90634"/>
              <a:ext cx="2043113"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3)">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89756" y="198179"/>
            <a:ext cx="8964488" cy="6461641"/>
            <a:chOff x="89756" y="129449"/>
            <a:chExt cx="8964488" cy="6461641"/>
          </a:xfrm>
        </p:grpSpPr>
        <p:sp>
          <p:nvSpPr>
            <p:cNvPr id="2" name="TextBox 1"/>
            <p:cNvSpPr txBox="1"/>
            <p:nvPr/>
          </p:nvSpPr>
          <p:spPr>
            <a:xfrm>
              <a:off x="283157" y="293395"/>
              <a:ext cx="5832648" cy="1200329"/>
            </a:xfrm>
            <a:prstGeom prst="rect">
              <a:avLst/>
            </a:prstGeom>
            <a:noFill/>
          </p:spPr>
          <p:txBody>
            <a:bodyPr wrap="square" rtlCol="0">
              <a:spAutoFit/>
            </a:bodyPr>
            <a:lstStyle/>
            <a:p>
              <a:r>
                <a:rPr lang="en-US" sz="3600" b="1" dirty="0">
                  <a:solidFill>
                    <a:schemeClr val="bg1"/>
                  </a:solidFill>
                </a:rPr>
                <a:t>HISTORY &amp; EVOLUTION OF CLOUD COMPUTING</a:t>
              </a:r>
              <a:endParaRPr lang="en-IN" sz="3600" b="1" dirty="0">
                <a:solidFill>
                  <a:schemeClr val="bg1"/>
                </a:solidFill>
              </a:endParaRPr>
            </a:p>
          </p:txBody>
        </p:sp>
        <p:sp>
          <p:nvSpPr>
            <p:cNvPr id="3" name="TextBox 2"/>
            <p:cNvSpPr txBox="1"/>
            <p:nvPr/>
          </p:nvSpPr>
          <p:spPr>
            <a:xfrm>
              <a:off x="89756" y="1468149"/>
              <a:ext cx="8964488" cy="5122941"/>
            </a:xfrm>
            <a:prstGeom prst="rect">
              <a:avLst/>
            </a:prstGeom>
            <a:noFill/>
          </p:spPr>
          <p:txBody>
            <a:bodyPr wrap="square" rtlCol="0">
              <a:spAutoFit/>
            </a:bodyPr>
            <a:lstStyle/>
            <a:p>
              <a:pPr algn="just">
                <a:lnSpc>
                  <a:spcPct val="150000"/>
                </a:lnSpc>
              </a:pPr>
              <a:r>
                <a:rPr lang="en-US" sz="2000" dirty="0">
                  <a:solidFill>
                    <a:schemeClr val="bg1"/>
                  </a:solidFill>
                </a:rPr>
                <a:t>The Fifth Generation of Computing (after Mainframe, Personal Computer, Client-Server Computing, and the web) is the Cloud Computing. The Computing is the systematic study of algorithmic processes that describe and transform information, their theory, analysis, design, efficiency, implementation, and application. The term "computing" is synonymous of counting and calculating. Cloud computing is defined as Internet-based computing, whereby shared resources, software and information are provided to computers and other devices on-demand, like the electricity grid. </a:t>
              </a:r>
              <a:r>
                <a:rPr lang="en-US" sz="2000" b="1" u="sng" dirty="0">
                  <a:solidFill>
                    <a:schemeClr val="bg1"/>
                  </a:solidFill>
                </a:rPr>
                <a:t>Mainframe:- </a:t>
              </a:r>
              <a:r>
                <a:rPr lang="en-US" sz="2000" dirty="0">
                  <a:solidFill>
                    <a:schemeClr val="bg1"/>
                  </a:solidFill>
                </a:rPr>
                <a:t>Computing In early 1950s, programmers were having limitation in the form of batch files, in which complete jobs were submitted on the punch cards and operators were supposed to run it on a complex computer hardware consisting of power consuming mechanical relays, transistors, vacuum electronic I/O devices. </a:t>
              </a:r>
              <a:endParaRPr lang="en-IN" sz="2000" dirty="0">
                <a:solidFill>
                  <a:schemeClr val="bg1"/>
                </a:solidFill>
              </a:endParaRPr>
            </a:p>
          </p:txBody>
        </p:sp>
        <p:grpSp>
          <p:nvGrpSpPr>
            <p:cNvPr id="4" name="Group 3"/>
            <p:cNvGrpSpPr/>
            <p:nvPr/>
          </p:nvGrpSpPr>
          <p:grpSpPr>
            <a:xfrm>
              <a:off x="6804248" y="129449"/>
              <a:ext cx="2160240" cy="1420546"/>
              <a:chOff x="6804248" y="129448"/>
              <a:chExt cx="2339752" cy="1705661"/>
            </a:xfrm>
          </p:grpSpPr>
          <p:grpSp>
            <p:nvGrpSpPr>
              <p:cNvPr id="5" name="Group 4"/>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1" name="Rounded Rectangle 10"/>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 name="Group 5"/>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7" name="Rounded Rectangle 6"/>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5575" y="116632"/>
            <a:ext cx="8880921" cy="6411846"/>
            <a:chOff x="155575" y="-144463"/>
            <a:chExt cx="8968561" cy="6672941"/>
          </a:xfrm>
        </p:grpSpPr>
        <p:sp>
          <p:nvSpPr>
            <p:cNvPr id="28" name="TextBox 27"/>
            <p:cNvSpPr txBox="1"/>
            <p:nvPr/>
          </p:nvSpPr>
          <p:spPr>
            <a:xfrm>
              <a:off x="425458" y="441946"/>
              <a:ext cx="4032448" cy="672650"/>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sp>
          <p:nvSpPr>
            <p:cNvPr id="42" name="Rectangle 41"/>
            <p:cNvSpPr/>
            <p:nvPr/>
          </p:nvSpPr>
          <p:spPr>
            <a:xfrm>
              <a:off x="290236" y="1450165"/>
              <a:ext cx="5022515" cy="5078313"/>
            </a:xfrm>
            <a:prstGeom prst="rect">
              <a:avLst/>
            </a:prstGeom>
          </p:spPr>
          <p:txBody>
            <a:bodyPr wrap="square">
              <a:spAutoFit/>
            </a:bodyPr>
            <a:lstStyle/>
            <a:p>
              <a:pPr algn="just">
                <a:lnSpc>
                  <a:spcPct val="150000"/>
                </a:lnSpc>
              </a:pPr>
              <a:r>
                <a:rPr lang="en-US" dirty="0">
                  <a:solidFill>
                    <a:schemeClr val="bg1"/>
                  </a:solidFill>
                </a:rPr>
                <a:t>Multi-programmed, batched systems were introduced to effectively utilize various system resources which then extended into time sharing systems in which CPU executes multiple jobs for several users switching among them. In time sharing system, now group of people, mainly programmers, could interact with computer, so it was significant milestone in interactive use of computer. In Time sharing systems, programmers were interacting with the computer using the terminals attached to the mainframes using a command line interface.</a:t>
              </a:r>
            </a:p>
          </p:txBody>
        </p:sp>
        <p:sp>
          <p:nvSpPr>
            <p:cNvPr id="43" name="AutoShape 2" descr="Mainframe Architecture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44" name="AutoShape 4" descr="Mainframe Architecture | Download Scientific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46" name="Picture 4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1988840"/>
              <a:ext cx="3616032" cy="4032448"/>
            </a:xfrm>
            <a:prstGeom prst="rect">
              <a:avLst/>
            </a:prstGeom>
          </p:spPr>
        </p:pic>
        <p:grpSp>
          <p:nvGrpSpPr>
            <p:cNvPr id="47" name="Group 46"/>
            <p:cNvGrpSpPr/>
            <p:nvPr/>
          </p:nvGrpSpPr>
          <p:grpSpPr>
            <a:xfrm>
              <a:off x="6804248" y="129449"/>
              <a:ext cx="2160240" cy="1420546"/>
              <a:chOff x="6804248" y="129448"/>
              <a:chExt cx="2339752" cy="1705661"/>
            </a:xfrm>
          </p:grpSpPr>
          <p:grpSp>
            <p:nvGrpSpPr>
              <p:cNvPr id="48" name="Group 47"/>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54" name="Rounded Rectangle 53"/>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9" name="Group 48"/>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50" name="Rounded Rectangle 49"/>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 calcmode="lin" valueType="num">
                                      <p:cBhvr>
                                        <p:cTn id="9" dur="750" fill="hold"/>
                                        <p:tgtEl>
                                          <p:spTgt spid="2"/>
                                        </p:tgtEl>
                                        <p:attrNameLst>
                                          <p:attrName>style.rotation</p:attrName>
                                        </p:attrNameLst>
                                      </p:cBhvr>
                                      <p:tavLst>
                                        <p:tav tm="0">
                                          <p:val>
                                            <p:fltVal val="90"/>
                                          </p:val>
                                        </p:tav>
                                        <p:tav tm="100000">
                                          <p:val>
                                            <p:fltVal val="0"/>
                                          </p:val>
                                        </p:tav>
                                      </p:tavLst>
                                    </p:anim>
                                    <p:animEffect transition="in" filter="fade">
                                      <p:cBhvr>
                                        <p:cTn id="10"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96320" y="116632"/>
            <a:ext cx="8740176" cy="6624736"/>
            <a:chOff x="609824" y="0"/>
            <a:chExt cx="8534176" cy="6511414"/>
          </a:xfrm>
        </p:grpSpPr>
        <p:sp>
          <p:nvSpPr>
            <p:cNvPr id="2" name="TextBox 1"/>
            <p:cNvSpPr txBox="1"/>
            <p:nvPr/>
          </p:nvSpPr>
          <p:spPr>
            <a:xfrm>
              <a:off x="609824" y="410259"/>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sp>
          <p:nvSpPr>
            <p:cNvPr id="3" name="Rectangle 2"/>
            <p:cNvSpPr/>
            <p:nvPr/>
          </p:nvSpPr>
          <p:spPr>
            <a:xfrm>
              <a:off x="636389" y="1340768"/>
              <a:ext cx="8226367" cy="5170646"/>
            </a:xfrm>
            <a:prstGeom prst="rect">
              <a:avLst/>
            </a:prstGeom>
          </p:spPr>
          <p:txBody>
            <a:bodyPr wrap="square">
              <a:spAutoFit/>
            </a:bodyPr>
            <a:lstStyle/>
            <a:p>
              <a:pPr algn="just">
                <a:lnSpc>
                  <a:spcPct val="150000"/>
                </a:lnSpc>
              </a:pPr>
              <a:r>
                <a:rPr lang="en-US" sz="2000" b="1" u="sng" dirty="0">
                  <a:solidFill>
                    <a:schemeClr val="bg1"/>
                  </a:solidFill>
                </a:rPr>
                <a:t>Personal Computing (PC):- </a:t>
              </a:r>
              <a:r>
                <a:rPr lang="en-US" sz="2000" dirty="0">
                  <a:solidFill>
                    <a:schemeClr val="bg1"/>
                  </a:solidFill>
                </a:rPr>
                <a:t>Personal Computing systems considerably smaller and less expense then Mainframe Systems and more suitable for typical office environments and necessary for every personal executive. Traditionally executively were used to setting on a desk performing several tasks by using a set of tools spread on the top of the desk. Soon a personal computer starting occupying an important place on an executive’s desk and all other tools on the desk including the time-clock become the part of the desktop interface of the PC. In Personal Computing, interaction focused on addressing the single user engaged in a dialog with the computer in order to carry out a series of tasks. Humans are by nature multitasking as they can think about more than one think at a time. </a:t>
              </a:r>
              <a:endParaRPr lang="en-IN" sz="2000" dirty="0">
                <a:solidFill>
                  <a:schemeClr val="bg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0"/>
              <a:ext cx="3124200" cy="1466850"/>
            </a:xfrm>
            <a:prstGeom prst="rect">
              <a:avLst/>
            </a:prstGeom>
            <a:noFill/>
            <a:ln>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anim calcmode="lin" valueType="num">
                                      <p:cBhvr>
                                        <p:cTn id="10" dur="500" fill="hold"/>
                                        <p:tgtEl>
                                          <p:spTgt spid="5"/>
                                        </p:tgtEl>
                                        <p:attrNameLst>
                                          <p:attrName>ppt_x</p:attrName>
                                        </p:attrNameLst>
                                      </p:cBhvr>
                                      <p:tavLst>
                                        <p:tav tm="0">
                                          <p:val>
                                            <p:fltVal val="0.5"/>
                                          </p:val>
                                        </p:tav>
                                        <p:tav tm="100000">
                                          <p:val>
                                            <p:strVal val="#ppt_x"/>
                                          </p:val>
                                        </p:tav>
                                      </p:tavLst>
                                    </p:anim>
                                    <p:anim calcmode="lin" valueType="num">
                                      <p:cBhvr>
                                        <p:cTn id="11"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1520" y="1340768"/>
            <a:ext cx="5076056" cy="5170646"/>
          </a:xfrm>
          <a:prstGeom prst="rect">
            <a:avLst/>
          </a:prstGeom>
        </p:spPr>
        <p:txBody>
          <a:bodyPr wrap="square">
            <a:spAutoFit/>
          </a:bodyPr>
          <a:lstStyle/>
          <a:p>
            <a:pPr algn="just">
              <a:lnSpc>
                <a:spcPct val="150000"/>
              </a:lnSpc>
            </a:pPr>
            <a:r>
              <a:rPr lang="en-US" sz="2000" b="1" u="sng" dirty="0">
                <a:solidFill>
                  <a:schemeClr val="bg1"/>
                </a:solidFill>
              </a:rPr>
              <a:t>Client-Server:</a:t>
            </a:r>
            <a:r>
              <a:rPr lang="en-US" sz="2000" b="1" dirty="0">
                <a:solidFill>
                  <a:schemeClr val="bg1"/>
                </a:solidFill>
              </a:rPr>
              <a:t>- </a:t>
            </a:r>
            <a:r>
              <a:rPr lang="en-US" sz="2000" dirty="0">
                <a:solidFill>
                  <a:schemeClr val="bg1"/>
                </a:solidFill>
              </a:rPr>
              <a:t>As personal computers and laptops become cheaper, organizations started to replace their mainframe terminals with PCs linked together in a network. At the heart of the network of PCs (clients) is a server (which might be a mainframe or a powerful PC) which stores some of the data, applications software and other instructions that the network users need in order to communicate and process transactions on the network. There are different types of servers. </a:t>
            </a:r>
            <a:endParaRPr lang="en-IN" sz="2000" dirty="0">
              <a:solidFill>
                <a:schemeClr val="bg1"/>
              </a:solidFill>
            </a:endParaRPr>
          </a:p>
        </p:txBody>
      </p:sp>
      <p:sp>
        <p:nvSpPr>
          <p:cNvPr id="4" name="TextBox 3"/>
          <p:cNvSpPr txBox="1"/>
          <p:nvPr/>
        </p:nvSpPr>
        <p:spPr>
          <a:xfrm>
            <a:off x="425458" y="420143"/>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7665" y="1844824"/>
            <a:ext cx="3638463" cy="4486275"/>
          </a:xfrm>
          <a:prstGeom prst="rect">
            <a:avLst/>
          </a:prstGeom>
        </p:spPr>
      </p:pic>
      <p:grpSp>
        <p:nvGrpSpPr>
          <p:cNvPr id="17" name="Group 16"/>
          <p:cNvGrpSpPr/>
          <p:nvPr/>
        </p:nvGrpSpPr>
        <p:grpSpPr>
          <a:xfrm>
            <a:off x="6804248" y="129449"/>
            <a:ext cx="2160240" cy="1420546"/>
            <a:chOff x="6804248" y="129448"/>
            <a:chExt cx="2339752" cy="1705661"/>
          </a:xfrm>
        </p:grpSpPr>
        <p:grpSp>
          <p:nvGrpSpPr>
            <p:cNvPr id="18" name="Group 17"/>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24" name="Rounded Rectangle 23"/>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Oval 25"/>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20" name="Rounded Rectangle 19"/>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3528" y="129449"/>
            <a:ext cx="8640960" cy="6591192"/>
            <a:chOff x="323528" y="129449"/>
            <a:chExt cx="8640960" cy="6591192"/>
          </a:xfrm>
        </p:grpSpPr>
        <p:sp>
          <p:nvSpPr>
            <p:cNvPr id="3" name="Rectangle 2"/>
            <p:cNvSpPr/>
            <p:nvPr/>
          </p:nvSpPr>
          <p:spPr>
            <a:xfrm>
              <a:off x="323528" y="1549995"/>
              <a:ext cx="8503171" cy="5170646"/>
            </a:xfrm>
            <a:prstGeom prst="rect">
              <a:avLst/>
            </a:prstGeom>
          </p:spPr>
          <p:txBody>
            <a:bodyPr wrap="square">
              <a:spAutoFit/>
            </a:bodyPr>
            <a:lstStyle/>
            <a:p>
              <a:pPr algn="just">
                <a:lnSpc>
                  <a:spcPct val="150000"/>
                </a:lnSpc>
              </a:pPr>
              <a:r>
                <a:rPr lang="en-US" sz="2000" dirty="0">
                  <a:solidFill>
                    <a:schemeClr val="bg1"/>
                  </a:solidFill>
                </a:rPr>
                <a:t>A web server provides web pages to users, an application server assigns specific tasks to other servers to enable a faster more efficient response to client requests than a single mainframe trying to do everything. Large organizations use a multi-tiered client/server architecture that has several different levels of servers. Client/server computing systems are comprised of two logical parts: a server that provides services and a client that requests services of the server</a:t>
              </a:r>
              <a:r>
                <a:rPr lang="en-US" sz="2000" b="1" dirty="0">
                  <a:solidFill>
                    <a:schemeClr val="bg1"/>
                  </a:solidFill>
                </a:rPr>
                <a:t>. A good example of a client/server system is a simple automated teller machine (ATM) network.</a:t>
              </a:r>
              <a:r>
                <a:rPr lang="en-US" sz="2000" dirty="0">
                  <a:solidFill>
                    <a:schemeClr val="bg1"/>
                  </a:solidFill>
                </a:rPr>
                <a:t> Users typically use ATMs as clients to interface with a small sub-server, which collaborates with a larger server that manages all of the smaller servers. In this model, the sub-servers are servers to the ATMs and clients to the master server. </a:t>
              </a:r>
              <a:endParaRPr lang="en-IN" sz="2000" dirty="0">
                <a:solidFill>
                  <a:schemeClr val="bg1"/>
                </a:solidFill>
              </a:endParaRPr>
            </a:p>
          </p:txBody>
        </p:sp>
        <p:sp>
          <p:nvSpPr>
            <p:cNvPr id="4" name="TextBox 3"/>
            <p:cNvSpPr txBox="1"/>
            <p:nvPr/>
          </p:nvSpPr>
          <p:spPr>
            <a:xfrm>
              <a:off x="425458" y="538795"/>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nvGrpSpPr>
            <p:cNvPr id="5" name="Group 4"/>
            <p:cNvGrpSpPr/>
            <p:nvPr/>
          </p:nvGrpSpPr>
          <p:grpSpPr>
            <a:xfrm>
              <a:off x="6804248" y="129449"/>
              <a:ext cx="2160240" cy="1420546"/>
              <a:chOff x="6804248" y="129448"/>
              <a:chExt cx="2339752" cy="1705661"/>
            </a:xfrm>
          </p:grpSpPr>
          <p:grpSp>
            <p:nvGrpSpPr>
              <p:cNvPr id="6" name="Group 5"/>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17301" y="129449"/>
            <a:ext cx="8647187" cy="6543487"/>
            <a:chOff x="317301" y="129449"/>
            <a:chExt cx="8647187" cy="6543487"/>
          </a:xfrm>
        </p:grpSpPr>
        <p:sp>
          <p:nvSpPr>
            <p:cNvPr id="3" name="Rectangle 2"/>
            <p:cNvSpPr/>
            <p:nvPr/>
          </p:nvSpPr>
          <p:spPr>
            <a:xfrm>
              <a:off x="317301" y="1549995"/>
              <a:ext cx="8503171" cy="5122941"/>
            </a:xfrm>
            <a:prstGeom prst="rect">
              <a:avLst/>
            </a:prstGeom>
          </p:spPr>
          <p:txBody>
            <a:bodyPr wrap="square">
              <a:spAutoFit/>
            </a:bodyPr>
            <a:lstStyle/>
            <a:p>
              <a:pPr algn="just">
                <a:lnSpc>
                  <a:spcPct val="150000"/>
                </a:lnSpc>
              </a:pPr>
              <a:r>
                <a:rPr lang="en-US" sz="2000" dirty="0">
                  <a:solidFill>
                    <a:schemeClr val="bg1"/>
                  </a:solidFill>
                </a:rPr>
                <a:t>ATMs provide the user interface and can be customized as required (e.g. for multilingual support), while the intermediate servers provide the application logic, such as checking account balances and transferring money between accounts. The sub-servers allow the system to be scaled since adding servers allows an increased number of ATMs to be supported. However, the application logic is provided only with the help of the centralized server. The results of the services are communicated to the user through the ATMs. The centralized server provides additional application logic, such as ensuring that concurrent transactions are handled correctly. It also serves as a central brokerage for all account information so that users can access their accounts from any ATM worldwide.</a:t>
              </a:r>
              <a:endParaRPr lang="en-IN" sz="2000" dirty="0">
                <a:solidFill>
                  <a:schemeClr val="bg1"/>
                </a:solidFill>
              </a:endParaRPr>
            </a:p>
          </p:txBody>
        </p:sp>
        <p:sp>
          <p:nvSpPr>
            <p:cNvPr id="4" name="TextBox 3"/>
            <p:cNvSpPr txBox="1"/>
            <p:nvPr/>
          </p:nvSpPr>
          <p:spPr>
            <a:xfrm>
              <a:off x="425458" y="538795"/>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nvGrpSpPr>
            <p:cNvPr id="5" name="Group 4"/>
            <p:cNvGrpSpPr/>
            <p:nvPr/>
          </p:nvGrpSpPr>
          <p:grpSpPr>
            <a:xfrm>
              <a:off x="6804248" y="129449"/>
              <a:ext cx="2160240" cy="1420546"/>
              <a:chOff x="6804248" y="129448"/>
              <a:chExt cx="2339752" cy="1705661"/>
            </a:xfrm>
          </p:grpSpPr>
          <p:grpSp>
            <p:nvGrpSpPr>
              <p:cNvPr id="6" name="Group 5"/>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6320" y="1549995"/>
            <a:ext cx="8758168" cy="5122941"/>
          </a:xfrm>
          <a:prstGeom prst="rect">
            <a:avLst/>
          </a:prstGeom>
        </p:spPr>
        <p:txBody>
          <a:bodyPr wrap="square">
            <a:spAutoFit/>
          </a:bodyPr>
          <a:lstStyle/>
          <a:p>
            <a:pPr algn="just">
              <a:lnSpc>
                <a:spcPct val="150000"/>
              </a:lnSpc>
            </a:pPr>
            <a:r>
              <a:rPr lang="en-US" sz="2000" b="1" u="sng" dirty="0">
                <a:solidFill>
                  <a:schemeClr val="bg1"/>
                </a:solidFill>
              </a:rPr>
              <a:t>Internet Computing:</a:t>
            </a:r>
            <a:r>
              <a:rPr lang="en-US" sz="2000" b="1" dirty="0">
                <a:solidFill>
                  <a:schemeClr val="bg1"/>
                </a:solidFill>
              </a:rPr>
              <a:t>- </a:t>
            </a:r>
            <a:r>
              <a:rPr lang="en-US" sz="2000" dirty="0">
                <a:solidFill>
                  <a:schemeClr val="bg1"/>
                </a:solidFill>
              </a:rPr>
              <a:t>The Internet is the massive network of networks connects millions of computers together worldwide, forming a network in which any computer can communicate with any other computer provided that they are both connected to the Internet. The World Wide Web (WWW), or simply Web, is a way of accessing information over the medium of the Internet. WWW consists of billions of web pages, spread across thousands and thousands of servers all over the world. It is an information-sharing model that is built on top of the Internet. The most well-known example of a distributed system is the collection of web servers. Hypertext is a document containing words that bond to other documents in the Web. These words are known as links and are selectable by the user. A single hypertext document can hold links to many documents.</a:t>
            </a:r>
            <a:endParaRPr lang="en-IN" sz="2000" dirty="0">
              <a:solidFill>
                <a:schemeClr val="bg1"/>
              </a:solidFill>
            </a:endParaRPr>
          </a:p>
        </p:txBody>
      </p:sp>
      <p:sp>
        <p:nvSpPr>
          <p:cNvPr id="4" name="TextBox 3"/>
          <p:cNvSpPr txBox="1"/>
          <p:nvPr/>
        </p:nvSpPr>
        <p:spPr>
          <a:xfrm>
            <a:off x="425458" y="538795"/>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nvGrpSpPr>
          <p:cNvPr id="5" name="Group 4"/>
          <p:cNvGrpSpPr/>
          <p:nvPr/>
        </p:nvGrpSpPr>
        <p:grpSpPr>
          <a:xfrm>
            <a:off x="6804248" y="129449"/>
            <a:ext cx="2160240" cy="1420546"/>
            <a:chOff x="6804248" y="129448"/>
            <a:chExt cx="2339752" cy="1705661"/>
          </a:xfrm>
        </p:grpSpPr>
        <p:grpSp>
          <p:nvGrpSpPr>
            <p:cNvPr id="6" name="Group 5"/>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25458" y="129449"/>
            <a:ext cx="8539030" cy="6410231"/>
            <a:chOff x="425458" y="129449"/>
            <a:chExt cx="8539030" cy="6410231"/>
          </a:xfrm>
        </p:grpSpPr>
        <p:sp>
          <p:nvSpPr>
            <p:cNvPr id="4" name="TextBox 3"/>
            <p:cNvSpPr txBox="1"/>
            <p:nvPr/>
          </p:nvSpPr>
          <p:spPr>
            <a:xfrm>
              <a:off x="425458" y="538795"/>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nvGrpSpPr>
            <p:cNvPr id="5" name="Group 4"/>
            <p:cNvGrpSpPr/>
            <p:nvPr/>
          </p:nvGrpSpPr>
          <p:grpSpPr>
            <a:xfrm>
              <a:off x="6804248" y="129449"/>
              <a:ext cx="2160240" cy="1420546"/>
              <a:chOff x="6804248" y="129448"/>
              <a:chExt cx="2339752" cy="1705661"/>
            </a:xfrm>
          </p:grpSpPr>
          <p:grpSp>
            <p:nvGrpSpPr>
              <p:cNvPr id="6" name="Group 5"/>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327" y="2177517"/>
              <a:ext cx="7753346" cy="4362163"/>
            </a:xfrm>
            <a:prstGeom prst="rect">
              <a:avLst/>
            </a:prstGeom>
          </p:spPr>
        </p:pic>
        <p:sp>
          <p:nvSpPr>
            <p:cNvPr id="16" name="TextBox 15"/>
            <p:cNvSpPr txBox="1"/>
            <p:nvPr/>
          </p:nvSpPr>
          <p:spPr>
            <a:xfrm>
              <a:off x="1276952" y="1688281"/>
              <a:ext cx="6590095" cy="461665"/>
            </a:xfrm>
            <a:prstGeom prst="rect">
              <a:avLst/>
            </a:prstGeom>
            <a:noFill/>
          </p:spPr>
          <p:txBody>
            <a:bodyPr wrap="square" rtlCol="0">
              <a:spAutoFit/>
            </a:bodyPr>
            <a:lstStyle/>
            <a:p>
              <a:pPr algn="ctr"/>
              <a:r>
                <a:rPr lang="en-US" sz="2400" b="1" dirty="0">
                  <a:solidFill>
                    <a:schemeClr val="bg1"/>
                  </a:solidFill>
                </a:rPr>
                <a:t>High Level Of Architecture Of Internet Computing</a:t>
              </a:r>
              <a:endParaRPr lang="en-IN" sz="2400" b="1" dirty="0">
                <a:solidFill>
                  <a:schemeClr val="bg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grpSp>
        <p:nvGrpSpPr>
          <p:cNvPr id="2" name="Group 1"/>
          <p:cNvGrpSpPr/>
          <p:nvPr/>
        </p:nvGrpSpPr>
        <p:grpSpPr>
          <a:xfrm>
            <a:off x="259885" y="188640"/>
            <a:ext cx="8066498" cy="6214726"/>
            <a:chOff x="259885" y="188640"/>
            <a:chExt cx="8066498" cy="6214726"/>
          </a:xfrm>
        </p:grpSpPr>
        <p:grpSp>
          <p:nvGrpSpPr>
            <p:cNvPr id="3" name="Group 2"/>
            <p:cNvGrpSpPr/>
            <p:nvPr/>
          </p:nvGrpSpPr>
          <p:grpSpPr>
            <a:xfrm>
              <a:off x="2512974" y="2317787"/>
              <a:ext cx="4508461" cy="2961959"/>
              <a:chOff x="1691681" y="1046076"/>
              <a:chExt cx="6120681" cy="3895091"/>
            </a:xfrm>
            <a:solidFill>
              <a:srgbClr val="00B0F0"/>
            </a:solidFill>
            <a:scene3d>
              <a:camera prst="isometricOffAxis1Right"/>
              <a:lightRig rig="threePt" dir="t">
                <a:rot lat="0" lon="0" rev="1200000"/>
              </a:lightRig>
            </a:scene3d>
          </p:grpSpPr>
          <p:sp>
            <p:nvSpPr>
              <p:cNvPr id="9" name="Rounded Rectangle 8"/>
              <p:cNvSpPr/>
              <p:nvPr/>
            </p:nvSpPr>
            <p:spPr>
              <a:xfrm>
                <a:off x="1691681" y="3212976"/>
                <a:ext cx="6120681" cy="1728191"/>
              </a:xfrm>
              <a:prstGeom prst="roundRect">
                <a:avLst>
                  <a:gd name="adj" fmla="val 50000"/>
                </a:avLst>
              </a:prstGeom>
              <a:grpFill/>
              <a:ln>
                <a:noFill/>
              </a:ln>
              <a:sp3d extrusionH="34925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2195734" y="1898964"/>
                <a:ext cx="2232248" cy="2232247"/>
              </a:xfrm>
              <a:prstGeom prst="ellipse">
                <a:avLst/>
              </a:prstGeom>
              <a:grpFill/>
              <a:ln>
                <a:noFill/>
              </a:ln>
              <a:sp3d extrusionH="34925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3563887" y="1046076"/>
                <a:ext cx="2232248" cy="2232247"/>
              </a:xfrm>
              <a:prstGeom prst="ellipse">
                <a:avLst/>
              </a:prstGeom>
              <a:grpFill/>
              <a:ln>
                <a:noFill/>
              </a:ln>
              <a:sp3d extrusionH="34925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4781664" y="2096851"/>
                <a:ext cx="2232248" cy="2232247"/>
              </a:xfrm>
              <a:prstGeom prst="ellipse">
                <a:avLst/>
              </a:prstGeom>
              <a:grpFill/>
              <a:ln>
                <a:noFill/>
              </a:ln>
              <a:sp3d extrusionH="34925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0" name="TextBox 19"/>
            <p:cNvSpPr txBox="1"/>
            <p:nvPr/>
          </p:nvSpPr>
          <p:spPr>
            <a:xfrm>
              <a:off x="259885" y="188640"/>
              <a:ext cx="6225915" cy="1200329"/>
            </a:xfrm>
            <a:prstGeom prst="rect">
              <a:avLst/>
            </a:prstGeom>
            <a:noFill/>
          </p:spPr>
          <p:txBody>
            <a:bodyPr wrap="square" rtlCol="0">
              <a:spAutoFit/>
            </a:bodyPr>
            <a:lstStyle/>
            <a:p>
              <a:r>
                <a:rPr lang="en-US" sz="3600" b="1" dirty="0"/>
                <a:t>CHARACTERISTICS OF CLOUD COMPUTING</a:t>
              </a:r>
              <a:endParaRPr lang="en-IN" sz="3600" b="1" dirty="0"/>
            </a:p>
          </p:txBody>
        </p:sp>
        <p:grpSp>
          <p:nvGrpSpPr>
            <p:cNvPr id="26" name="Group 25"/>
            <p:cNvGrpSpPr/>
            <p:nvPr/>
          </p:nvGrpSpPr>
          <p:grpSpPr>
            <a:xfrm>
              <a:off x="1101941" y="1226813"/>
              <a:ext cx="7224442" cy="5176553"/>
              <a:chOff x="1065284" y="1268760"/>
              <a:chExt cx="7224442" cy="5176553"/>
            </a:xfrm>
          </p:grpSpPr>
          <p:sp>
            <p:nvSpPr>
              <p:cNvPr id="14" name="Donut 13"/>
              <p:cNvSpPr/>
              <p:nvPr/>
            </p:nvSpPr>
            <p:spPr>
              <a:xfrm>
                <a:off x="2015717" y="1532446"/>
                <a:ext cx="5502974" cy="4866247"/>
              </a:xfrm>
              <a:prstGeom prst="donut">
                <a:avLst>
                  <a:gd name="adj" fmla="val 4011"/>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Rounded Rectangle 14"/>
              <p:cNvSpPr/>
              <p:nvPr/>
            </p:nvSpPr>
            <p:spPr>
              <a:xfrm>
                <a:off x="3838991" y="1268760"/>
                <a:ext cx="1856425" cy="74049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On-Demand Self Service</a:t>
                </a:r>
                <a:endParaRPr lang="en-IN" b="1" dirty="0">
                  <a:solidFill>
                    <a:schemeClr val="tx1"/>
                  </a:solidFill>
                </a:endParaRPr>
              </a:p>
            </p:txBody>
          </p:sp>
          <p:sp>
            <p:nvSpPr>
              <p:cNvPr id="16" name="Rounded Rectangle 15"/>
              <p:cNvSpPr/>
              <p:nvPr/>
            </p:nvSpPr>
            <p:spPr>
              <a:xfrm>
                <a:off x="6433301" y="2966351"/>
                <a:ext cx="1856425" cy="74049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Board Network Access</a:t>
                </a:r>
                <a:endParaRPr lang="en-IN" b="1" dirty="0">
                  <a:solidFill>
                    <a:schemeClr val="tx1"/>
                  </a:solidFill>
                </a:endParaRPr>
              </a:p>
            </p:txBody>
          </p:sp>
          <p:sp>
            <p:nvSpPr>
              <p:cNvPr id="19" name="Rounded Rectangle 18"/>
              <p:cNvSpPr/>
              <p:nvPr/>
            </p:nvSpPr>
            <p:spPr>
              <a:xfrm>
                <a:off x="5695416" y="5704823"/>
                <a:ext cx="1856425" cy="74049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Rapid Elasticity</a:t>
                </a:r>
                <a:endParaRPr lang="en-IN" b="1" dirty="0">
                  <a:solidFill>
                    <a:schemeClr val="tx1"/>
                  </a:solidFill>
                </a:endParaRPr>
              </a:p>
            </p:txBody>
          </p:sp>
          <p:sp>
            <p:nvSpPr>
              <p:cNvPr id="18" name="Rounded Rectangle 17"/>
              <p:cNvSpPr/>
              <p:nvPr/>
            </p:nvSpPr>
            <p:spPr>
              <a:xfrm>
                <a:off x="2035608" y="5674760"/>
                <a:ext cx="1856425" cy="74049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Resource Polling</a:t>
                </a:r>
                <a:endParaRPr lang="en-IN" b="1" dirty="0">
                  <a:solidFill>
                    <a:schemeClr val="tx1"/>
                  </a:solidFill>
                </a:endParaRPr>
              </a:p>
            </p:txBody>
          </p:sp>
          <p:sp>
            <p:nvSpPr>
              <p:cNvPr id="17" name="Rounded Rectangle 16"/>
              <p:cNvSpPr/>
              <p:nvPr/>
            </p:nvSpPr>
            <p:spPr>
              <a:xfrm>
                <a:off x="1065284" y="2842746"/>
                <a:ext cx="2016224" cy="86409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Measured Service</a:t>
                </a:r>
                <a:endParaRPr lang="en-IN" b="1" dirty="0">
                  <a:solidFill>
                    <a:schemeClr val="tx1"/>
                  </a:solidFill>
                </a:endParaRPr>
              </a:p>
            </p:txBody>
          </p:sp>
        </p:grpSp>
        <p:sp>
          <p:nvSpPr>
            <p:cNvPr id="27" name="TextBox 26"/>
            <p:cNvSpPr txBox="1"/>
            <p:nvPr/>
          </p:nvSpPr>
          <p:spPr>
            <a:xfrm>
              <a:off x="4043804" y="3815090"/>
              <a:ext cx="1520113" cy="646331"/>
            </a:xfrm>
            <a:prstGeom prst="rect">
              <a:avLst/>
            </a:prstGeom>
            <a:noFill/>
            <a:scene3d>
              <a:camera prst="isometricOffAxis1Right"/>
              <a:lightRig rig="threePt" dir="t"/>
            </a:scene3d>
          </p:spPr>
          <p:txBody>
            <a:bodyPr wrap="square" rtlCol="0">
              <a:spAutoFit/>
            </a:bodyPr>
            <a:lstStyle/>
            <a:p>
              <a:pPr algn="ctr"/>
              <a:r>
                <a:rPr lang="en-US" sz="3600" b="1" dirty="0"/>
                <a:t>CLOUD</a:t>
              </a:r>
              <a:endParaRPr lang="en-IN" sz="3600" b="1"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83275" y="313627"/>
            <a:ext cx="8496944" cy="6263278"/>
            <a:chOff x="383275" y="313627"/>
            <a:chExt cx="8496944" cy="6263278"/>
          </a:xfrm>
        </p:grpSpPr>
        <p:sp>
          <p:nvSpPr>
            <p:cNvPr id="2" name="TextBox 1"/>
            <p:cNvSpPr txBox="1"/>
            <p:nvPr/>
          </p:nvSpPr>
          <p:spPr>
            <a:xfrm>
              <a:off x="425458" y="313627"/>
              <a:ext cx="4032448"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sp>
          <p:nvSpPr>
            <p:cNvPr id="3" name="Rectangle 2"/>
            <p:cNvSpPr/>
            <p:nvPr/>
          </p:nvSpPr>
          <p:spPr>
            <a:xfrm>
              <a:off x="383275" y="992299"/>
              <a:ext cx="8496944" cy="5584606"/>
            </a:xfrm>
            <a:prstGeom prst="rect">
              <a:avLst/>
            </a:prstGeom>
          </p:spPr>
          <p:txBody>
            <a:bodyPr wrap="square">
              <a:spAutoFit/>
            </a:bodyPr>
            <a:lstStyle/>
            <a:p>
              <a:pPr marL="457200" indent="-457200" algn="just">
                <a:lnSpc>
                  <a:spcPct val="150000"/>
                </a:lnSpc>
                <a:buFont typeface="Wingdings" panose="05000000000000000000" pitchFamily="2" charset="2"/>
                <a:buChar char="ü"/>
              </a:pPr>
              <a:r>
                <a:rPr lang="en-US" sz="2000" b="1" dirty="0">
                  <a:solidFill>
                    <a:schemeClr val="bg1"/>
                  </a:solidFill>
                </a:rPr>
                <a:t>On-demand Self-service:- </a:t>
              </a:r>
              <a:r>
                <a:rPr lang="en-US" sz="2000" dirty="0">
                  <a:solidFill>
                    <a:schemeClr val="bg1"/>
                  </a:solidFill>
                </a:rPr>
                <a:t>A consumer can unilaterally provision computing capabilities, such as server time and network storage, as needed automatically without requiring human interaction with each service provider. </a:t>
              </a:r>
            </a:p>
            <a:p>
              <a:pPr marL="457200" indent="-457200" algn="just">
                <a:lnSpc>
                  <a:spcPct val="150000"/>
                </a:lnSpc>
                <a:buFont typeface="Wingdings" panose="05000000000000000000" pitchFamily="2" charset="2"/>
                <a:buChar char="ü"/>
              </a:pPr>
              <a:r>
                <a:rPr lang="en-US" sz="2000" b="1" dirty="0">
                  <a:solidFill>
                    <a:schemeClr val="bg1"/>
                  </a:solidFill>
                </a:rPr>
                <a:t>Broad Network Access:- </a:t>
              </a:r>
              <a:r>
                <a:rPr lang="en-US" sz="2000" dirty="0">
                  <a:solidFill>
                    <a:schemeClr val="bg1"/>
                  </a:solidFill>
                </a:rPr>
                <a:t>Capabilities are available over the network and accessed through standard mechanisms that promote use by heterogeneous thin or thick client platforms (e.g., mobile phones, tablets, laptops, and workstations). </a:t>
              </a:r>
            </a:p>
            <a:p>
              <a:pPr marL="457200" indent="-457200" algn="just">
                <a:lnSpc>
                  <a:spcPct val="150000"/>
                </a:lnSpc>
                <a:buFont typeface="Wingdings" panose="05000000000000000000" pitchFamily="2" charset="2"/>
                <a:buChar char="ü"/>
              </a:pPr>
              <a:r>
                <a:rPr lang="en-US" sz="2000" b="1" dirty="0">
                  <a:solidFill>
                    <a:schemeClr val="bg1"/>
                  </a:solidFill>
                </a:rPr>
                <a:t>Rapid Elasticity:- </a:t>
              </a:r>
              <a:r>
                <a:rPr lang="en-US" sz="2000" dirty="0">
                  <a:solidFill>
                    <a:schemeClr val="bg1"/>
                  </a:solidFill>
                </a:rPr>
                <a:t>Capabilities can be expanded or released automatically (i.e., 	more CPU power, or ability to handle additional users). To the customer this appears seamless, limitless, and responsive 	to their changing requirements</a:t>
              </a:r>
            </a:p>
          </p:txBody>
        </p:sp>
      </p:grpSp>
      <p:grpSp>
        <p:nvGrpSpPr>
          <p:cNvPr id="19" name="Group 18">
            <a:extLst>
              <a:ext uri="{FF2B5EF4-FFF2-40B4-BE49-F238E27FC236}">
                <a16:creationId xmlns:a16="http://schemas.microsoft.com/office/drawing/2014/main" xmlns="" id="{DCD60071-751F-49F0-8136-8BD2EA5381CB}"/>
              </a:ext>
            </a:extLst>
          </p:cNvPr>
          <p:cNvGrpSpPr/>
          <p:nvPr/>
        </p:nvGrpSpPr>
        <p:grpSpPr>
          <a:xfrm>
            <a:off x="7236296" y="129449"/>
            <a:ext cx="1728192" cy="995295"/>
            <a:chOff x="6804248" y="129448"/>
            <a:chExt cx="2339752" cy="1705661"/>
          </a:xfrm>
        </p:grpSpPr>
        <p:grpSp>
          <p:nvGrpSpPr>
            <p:cNvPr id="20" name="Group 19">
              <a:extLst>
                <a:ext uri="{FF2B5EF4-FFF2-40B4-BE49-F238E27FC236}">
                  <a16:creationId xmlns:a16="http://schemas.microsoft.com/office/drawing/2014/main" xmlns="" id="{A32DCACD-5E2A-4193-98DA-7EAE860750BD}"/>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26" name="Rounded Rectangle 11">
                <a:extLst>
                  <a:ext uri="{FF2B5EF4-FFF2-40B4-BE49-F238E27FC236}">
                    <a16:creationId xmlns:a16="http://schemas.microsoft.com/office/drawing/2014/main" xmlns="" id="{7A4B122F-ED80-48A6-8763-7D61AE8D44F5}"/>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xmlns="" id="{71534DF9-E3AD-482B-BA1B-3E3B68E8EA2B}"/>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xmlns="" id="{23E79B0F-F474-4A04-94EE-DE22E3565E1B}"/>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xmlns="" id="{A2F72AE4-5A8A-491E-84EA-239ADD76F600}"/>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1" name="Group 20">
              <a:extLst>
                <a:ext uri="{FF2B5EF4-FFF2-40B4-BE49-F238E27FC236}">
                  <a16:creationId xmlns:a16="http://schemas.microsoft.com/office/drawing/2014/main" xmlns="" id="{F1E1C4D2-A53F-407E-AC18-DC4A436AE76E}"/>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22" name="Rounded Rectangle 7">
                <a:extLst>
                  <a:ext uri="{FF2B5EF4-FFF2-40B4-BE49-F238E27FC236}">
                    <a16:creationId xmlns:a16="http://schemas.microsoft.com/office/drawing/2014/main" xmlns="" id="{5EB86CFD-7C16-4A76-A1BD-480E5A0BAE08}"/>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xmlns="" id="{0353951C-860B-479F-992D-97ED65EBB6DC}"/>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xmlns="" id="{BB45F995-C3A4-4AD9-B193-D14773810101}"/>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xmlns="" id="{E27EA772-B121-451A-A4DB-6B2D6430AD3F}"/>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92369" y="476672"/>
            <a:ext cx="8280920" cy="5354824"/>
            <a:chOff x="392369" y="332656"/>
            <a:chExt cx="8280920" cy="5354824"/>
          </a:xfrm>
        </p:grpSpPr>
        <p:sp>
          <p:nvSpPr>
            <p:cNvPr id="2" name="Rectangle 1"/>
            <p:cNvSpPr/>
            <p:nvPr/>
          </p:nvSpPr>
          <p:spPr>
            <a:xfrm>
              <a:off x="392369" y="1440163"/>
              <a:ext cx="8280920" cy="4247317"/>
            </a:xfrm>
            <a:prstGeom prst="rect">
              <a:avLst/>
            </a:prstGeom>
          </p:spPr>
          <p:txBody>
            <a:bodyPr wrap="square">
              <a:spAutoFit/>
            </a:bodyPr>
            <a:lstStyle/>
            <a:p>
              <a:pPr marL="457200" indent="-457200" algn="just">
                <a:lnSpc>
                  <a:spcPct val="150000"/>
                </a:lnSpc>
                <a:buFont typeface="Wingdings" panose="05000000000000000000" pitchFamily="2" charset="2"/>
                <a:buChar char="ü"/>
              </a:pPr>
              <a:r>
                <a:rPr lang="en-US" sz="2000" b="1" dirty="0">
                  <a:solidFill>
                    <a:schemeClr val="bg1"/>
                  </a:solidFill>
                </a:rPr>
                <a:t>Resource Pooling:- </a:t>
              </a:r>
              <a:r>
                <a:rPr lang="en-US" sz="2000" dirty="0">
                  <a:solidFill>
                    <a:schemeClr val="bg1"/>
                  </a:solidFill>
                </a:rPr>
                <a:t>The provider’s computing resources are pooled to serve multiple consumers. Resources can be dynamically assigned and reassigned according to customer demand. Customer generally may not care where the resources are physically located but should be aware of risks if they are located offshore</a:t>
              </a:r>
            </a:p>
            <a:p>
              <a:pPr marL="342900" indent="-342900" algn="just">
                <a:lnSpc>
                  <a:spcPct val="150000"/>
                </a:lnSpc>
                <a:buFont typeface="Wingdings" panose="05000000000000000000" pitchFamily="2" charset="2"/>
                <a:buChar char="ü"/>
              </a:pPr>
              <a:r>
                <a:rPr lang="en-US" sz="2000" b="1" dirty="0">
                  <a:solidFill>
                    <a:schemeClr val="bg1"/>
                  </a:solidFill>
                </a:rPr>
                <a:t>Measured Service:- </a:t>
              </a:r>
              <a:r>
                <a:rPr lang="en-US" sz="2000" dirty="0">
                  <a:solidFill>
                    <a:schemeClr val="bg1"/>
                  </a:solidFill>
                </a:rPr>
                <a:t>Customers are charged for the services they use and the amounts. There is a metering concept where customer resource usage can be 	monitored, controlled, and reported, providing transparency for both the 	provider and consumer of the utilized service</a:t>
              </a:r>
            </a:p>
          </p:txBody>
        </p:sp>
        <p:sp>
          <p:nvSpPr>
            <p:cNvPr id="3" name="TextBox 2"/>
            <p:cNvSpPr txBox="1"/>
            <p:nvPr/>
          </p:nvSpPr>
          <p:spPr>
            <a:xfrm>
              <a:off x="611560" y="332656"/>
              <a:ext cx="1800200"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grpSp>
        <p:nvGrpSpPr>
          <p:cNvPr id="5" name="Group 4">
            <a:extLst>
              <a:ext uri="{FF2B5EF4-FFF2-40B4-BE49-F238E27FC236}">
                <a16:creationId xmlns:a16="http://schemas.microsoft.com/office/drawing/2014/main" xmlns="" id="{0A87A424-E616-40F4-803B-4CB8E431661D}"/>
              </a:ext>
            </a:extLst>
          </p:cNvPr>
          <p:cNvGrpSpPr/>
          <p:nvPr/>
        </p:nvGrpSpPr>
        <p:grpSpPr>
          <a:xfrm>
            <a:off x="6732242" y="129448"/>
            <a:ext cx="2232246" cy="1499351"/>
            <a:chOff x="6804248" y="129448"/>
            <a:chExt cx="2339752" cy="1705661"/>
          </a:xfrm>
        </p:grpSpPr>
        <p:grpSp>
          <p:nvGrpSpPr>
            <p:cNvPr id="6" name="Group 5">
              <a:extLst>
                <a:ext uri="{FF2B5EF4-FFF2-40B4-BE49-F238E27FC236}">
                  <a16:creationId xmlns:a16="http://schemas.microsoft.com/office/drawing/2014/main" xmlns="" id="{8F51BB15-A35E-4EFC-B6E3-47CD626F6E54}"/>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F83BF21E-7218-4DEB-A2D5-0FE408314B1E}"/>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2FECFEE6-93DD-4111-8923-0B19A3B63FAF}"/>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8CA3726E-857E-4A36-B942-2949D9A5D659}"/>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F5674D1E-794F-4C71-9AC7-87950A085AEC}"/>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B08E2B37-1884-46BC-AB1F-523E9AF85E1C}"/>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4D01424A-3A62-400A-9D30-80B3FBBA615F}"/>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7C881A3F-3306-47FD-BE44-466445957F3A}"/>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FFD47E48-10EA-461C-B0D4-826CA583E3A6}"/>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9606D451-B2DC-4835-BD1F-7A273CDCDFAC}"/>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87524" y="404664"/>
            <a:ext cx="8568952" cy="6230937"/>
            <a:chOff x="287524" y="404664"/>
            <a:chExt cx="8568952" cy="6230937"/>
          </a:xfrm>
        </p:grpSpPr>
        <p:sp>
          <p:nvSpPr>
            <p:cNvPr id="2" name="TextBox 1"/>
            <p:cNvSpPr txBox="1"/>
            <p:nvPr/>
          </p:nvSpPr>
          <p:spPr>
            <a:xfrm>
              <a:off x="503548" y="404664"/>
              <a:ext cx="5076564" cy="646331"/>
            </a:xfrm>
            <a:prstGeom prst="rect">
              <a:avLst/>
            </a:prstGeom>
            <a:noFill/>
          </p:spPr>
          <p:txBody>
            <a:bodyPr wrap="square" rtlCol="0">
              <a:spAutoFit/>
            </a:bodyPr>
            <a:lstStyle/>
            <a:p>
              <a:r>
                <a:rPr lang="en-US" sz="3600" b="1" dirty="0">
                  <a:solidFill>
                    <a:schemeClr val="bg1"/>
                  </a:solidFill>
                </a:rPr>
                <a:t>COMPONENTS OF CLOUD</a:t>
              </a:r>
              <a:endParaRPr lang="en-IN" sz="3600" b="1" dirty="0">
                <a:solidFill>
                  <a:schemeClr val="bg1"/>
                </a:solidFill>
              </a:endParaRPr>
            </a:p>
          </p:txBody>
        </p:sp>
        <p:sp>
          <p:nvSpPr>
            <p:cNvPr id="3" name="TextBox 2"/>
            <p:cNvSpPr txBox="1"/>
            <p:nvPr/>
          </p:nvSpPr>
          <p:spPr>
            <a:xfrm>
              <a:off x="287524" y="1050995"/>
              <a:ext cx="8568952" cy="55846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b="1" dirty="0">
                  <a:solidFill>
                    <a:schemeClr val="bg1"/>
                  </a:solidFill>
                </a:rPr>
                <a:t>Client infrastructure:</a:t>
              </a:r>
              <a:r>
                <a:rPr lang="en-US" sz="2000" dirty="0">
                  <a:solidFill>
                    <a:schemeClr val="bg1"/>
                  </a:solidFill>
                </a:rPr>
                <a:t>- client infrastructure is a front end component it provides GUI (Graphical User Interface)  to interact with the cloud.</a:t>
              </a:r>
            </a:p>
            <a:p>
              <a:pPr marL="342900" indent="-342900" algn="just">
                <a:lnSpc>
                  <a:spcPct val="150000"/>
                </a:lnSpc>
                <a:buFont typeface="Wingdings" panose="05000000000000000000" pitchFamily="2" charset="2"/>
                <a:buChar char="ü"/>
              </a:pPr>
              <a:r>
                <a:rPr lang="en-US" sz="2000" b="1" dirty="0">
                  <a:solidFill>
                    <a:schemeClr val="bg1"/>
                  </a:solidFill>
                </a:rPr>
                <a:t>Application:- </a:t>
              </a:r>
              <a:r>
                <a:rPr lang="en-US" sz="2000" dirty="0">
                  <a:solidFill>
                    <a:schemeClr val="bg1"/>
                  </a:solidFill>
                </a:rPr>
                <a:t>The application may be any software or platform that a clients wants to access.</a:t>
              </a:r>
            </a:p>
            <a:p>
              <a:pPr marL="342900" indent="-342900" algn="just">
                <a:lnSpc>
                  <a:spcPct val="150000"/>
                </a:lnSpc>
                <a:buFont typeface="Wingdings" panose="05000000000000000000" pitchFamily="2" charset="2"/>
                <a:buChar char="ü"/>
              </a:pPr>
              <a:r>
                <a:rPr lang="en-US" sz="2000" b="1" dirty="0">
                  <a:solidFill>
                    <a:schemeClr val="bg1"/>
                  </a:solidFill>
                </a:rPr>
                <a:t>Service:- </a:t>
              </a:r>
              <a:r>
                <a:rPr lang="en-US" sz="2000" dirty="0">
                  <a:solidFill>
                    <a:schemeClr val="bg1"/>
                  </a:solidFill>
                </a:rPr>
                <a:t> A cloud services manages that which type of services you access according to the clients requirement. There are three type of services Software as a Services, Platform as a Services, Infrastructure as a Services.</a:t>
              </a:r>
            </a:p>
            <a:p>
              <a:pPr marL="342900" indent="-342900" algn="just">
                <a:lnSpc>
                  <a:spcPct val="150000"/>
                </a:lnSpc>
                <a:buFont typeface="Wingdings" panose="05000000000000000000" pitchFamily="2" charset="2"/>
                <a:buChar char="ü"/>
              </a:pPr>
              <a:r>
                <a:rPr lang="en-US" sz="2000" b="1" dirty="0">
                  <a:solidFill>
                    <a:schemeClr val="bg1"/>
                  </a:solidFill>
                </a:rPr>
                <a:t>Runtime Cloud:- </a:t>
              </a:r>
              <a:r>
                <a:rPr lang="en-US" sz="2000" dirty="0">
                  <a:solidFill>
                    <a:schemeClr val="bg1"/>
                  </a:solidFill>
                </a:rPr>
                <a:t>Runtime cloud provides the execution and runtime environment to the virtual machines.</a:t>
              </a:r>
            </a:p>
            <a:p>
              <a:pPr marL="342900" indent="-342900" algn="just">
                <a:lnSpc>
                  <a:spcPct val="150000"/>
                </a:lnSpc>
                <a:buFont typeface="Wingdings" panose="05000000000000000000" pitchFamily="2" charset="2"/>
                <a:buChar char="ü"/>
              </a:pPr>
              <a:r>
                <a:rPr lang="en-US" sz="2000" b="1" dirty="0">
                  <a:solidFill>
                    <a:schemeClr val="bg1"/>
                  </a:solidFill>
                </a:rPr>
                <a:t>Storage:- </a:t>
              </a:r>
              <a:r>
                <a:rPr lang="en-US" sz="2000" dirty="0">
                  <a:solidFill>
                    <a:schemeClr val="bg1"/>
                  </a:solidFill>
                </a:rPr>
                <a:t>Storage is one of the most important components of cloud computing. It provides a huge amount of storage capacity in the cloud to store and manage data.</a:t>
              </a:r>
              <a:endParaRPr lang="en-US" sz="2000" b="1" dirty="0">
                <a:solidFill>
                  <a:schemeClr val="bg1"/>
                </a:solidFill>
              </a:endParaRPr>
            </a:p>
          </p:txBody>
        </p:sp>
      </p:grpSp>
      <p:grpSp>
        <p:nvGrpSpPr>
          <p:cNvPr id="5" name="Group 4">
            <a:extLst>
              <a:ext uri="{FF2B5EF4-FFF2-40B4-BE49-F238E27FC236}">
                <a16:creationId xmlns:a16="http://schemas.microsoft.com/office/drawing/2014/main" xmlns="" id="{45D5CB20-9A5D-413F-B5B8-F8E86475660F}"/>
              </a:ext>
            </a:extLst>
          </p:cNvPr>
          <p:cNvGrpSpPr/>
          <p:nvPr/>
        </p:nvGrpSpPr>
        <p:grpSpPr>
          <a:xfrm>
            <a:off x="7668344" y="129449"/>
            <a:ext cx="1296144" cy="921546"/>
            <a:chOff x="6804248" y="129448"/>
            <a:chExt cx="2339752" cy="1705661"/>
          </a:xfrm>
        </p:grpSpPr>
        <p:grpSp>
          <p:nvGrpSpPr>
            <p:cNvPr id="6" name="Group 5">
              <a:extLst>
                <a:ext uri="{FF2B5EF4-FFF2-40B4-BE49-F238E27FC236}">
                  <a16:creationId xmlns:a16="http://schemas.microsoft.com/office/drawing/2014/main" xmlns="" id="{385E9D13-90AD-4C0B-B261-E13C41DB831C}"/>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E59C3F4E-F906-4A2C-B09D-54B691BED2FB}"/>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CB17E008-0EC1-482E-BE5F-1BE91A6D653B}"/>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49E8F123-B475-4EBC-A426-54BF66B07CB0}"/>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5C410B81-6B30-4047-9766-63BE373ACA01}"/>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57F4C05A-2627-4F00-89A6-410AFA671508}"/>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4EE8403C-5ED1-44F2-A9BE-B374C36B0755}"/>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D8C6DAE6-DF73-41BF-89B6-45D0650AEBA4}"/>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472D24FB-B887-4473-A6CC-44062741F854}"/>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9A6EF2EF-E6A7-4C42-9FCC-55458CA4EF62}"/>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23528" y="313531"/>
            <a:ext cx="8496944" cy="6230937"/>
            <a:chOff x="323528" y="476672"/>
            <a:chExt cx="8496944" cy="6230937"/>
          </a:xfrm>
        </p:grpSpPr>
        <p:sp>
          <p:nvSpPr>
            <p:cNvPr id="2" name="TextBox 1"/>
            <p:cNvSpPr txBox="1"/>
            <p:nvPr/>
          </p:nvSpPr>
          <p:spPr>
            <a:xfrm>
              <a:off x="611560" y="476672"/>
              <a:ext cx="3024336"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sp>
          <p:nvSpPr>
            <p:cNvPr id="3" name="TextBox 2"/>
            <p:cNvSpPr txBox="1"/>
            <p:nvPr/>
          </p:nvSpPr>
          <p:spPr>
            <a:xfrm>
              <a:off x="323528" y="1123003"/>
              <a:ext cx="8496944" cy="55846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b="1" dirty="0">
                  <a:solidFill>
                    <a:schemeClr val="bg1"/>
                  </a:solidFill>
                </a:rPr>
                <a:t>Infrastructure:-  </a:t>
              </a:r>
              <a:r>
                <a:rPr lang="en-US" sz="2000" dirty="0">
                  <a:solidFill>
                    <a:schemeClr val="bg1"/>
                  </a:solidFill>
                </a:rPr>
                <a:t>It provides services on the host level, application level, and network level. Cloud infrastructure includes hardware and software components such as servers, storage, network devices, virtualization software, and other storage resources that are needed to support the cloud computing model.</a:t>
              </a:r>
            </a:p>
            <a:p>
              <a:pPr marL="342900" indent="-342900" algn="just">
                <a:lnSpc>
                  <a:spcPct val="150000"/>
                </a:lnSpc>
                <a:buFont typeface="Wingdings" panose="05000000000000000000" pitchFamily="2" charset="2"/>
                <a:buChar char="ü"/>
              </a:pPr>
              <a:r>
                <a:rPr lang="en-US" sz="2000" b="1" dirty="0">
                  <a:solidFill>
                    <a:schemeClr val="bg1"/>
                  </a:solidFill>
                </a:rPr>
                <a:t>Management:- </a:t>
              </a:r>
              <a:r>
                <a:rPr lang="en-US" sz="2000" dirty="0">
                  <a:solidFill>
                    <a:schemeClr val="bg1"/>
                  </a:solidFill>
                </a:rPr>
                <a:t>It is used to manage components such as application service, runtime cloud, storage, infrastructure, and other security issues in the backend and established coordination between them.</a:t>
              </a:r>
            </a:p>
            <a:p>
              <a:pPr marL="342900" indent="-342900" algn="just">
                <a:lnSpc>
                  <a:spcPct val="150000"/>
                </a:lnSpc>
                <a:buFont typeface="Wingdings" panose="05000000000000000000" pitchFamily="2" charset="2"/>
                <a:buChar char="ü"/>
              </a:pPr>
              <a:r>
                <a:rPr lang="en-US" sz="2000" b="1" dirty="0">
                  <a:solidFill>
                    <a:schemeClr val="bg1"/>
                  </a:solidFill>
                </a:rPr>
                <a:t>Security:-</a:t>
              </a:r>
              <a:r>
                <a:rPr lang="en-US" sz="2000" dirty="0">
                  <a:solidFill>
                    <a:schemeClr val="bg1"/>
                  </a:solidFill>
                </a:rPr>
                <a:t> It is an in-built back end component of cloud computing. It implements a security mechanism in the back end.</a:t>
              </a:r>
            </a:p>
            <a:p>
              <a:pPr marL="342900" indent="-342900" algn="just">
                <a:lnSpc>
                  <a:spcPct val="150000"/>
                </a:lnSpc>
                <a:buFont typeface="Wingdings" panose="05000000000000000000" pitchFamily="2" charset="2"/>
                <a:buChar char="ü"/>
              </a:pPr>
              <a:r>
                <a:rPr lang="en-US" sz="2000" b="1" dirty="0">
                  <a:solidFill>
                    <a:schemeClr val="bg1"/>
                  </a:solidFill>
                </a:rPr>
                <a:t>Internet:- </a:t>
              </a:r>
              <a:r>
                <a:rPr lang="en-US" sz="2000" dirty="0">
                  <a:solidFill>
                    <a:schemeClr val="bg1"/>
                  </a:solidFill>
                </a:rPr>
                <a:t>The internet is medium through which front end and back end can interact and communicate with each other.</a:t>
              </a:r>
              <a:r>
                <a:rPr lang="en-US" sz="2000" b="1" dirty="0">
                  <a:solidFill>
                    <a:schemeClr val="bg1"/>
                  </a:solidFill>
                </a:rPr>
                <a:t> </a:t>
              </a:r>
              <a:endParaRPr lang="en-IN" sz="2000" b="1" dirty="0">
                <a:solidFill>
                  <a:schemeClr val="bg1"/>
                </a:solidFill>
              </a:endParaRPr>
            </a:p>
          </p:txBody>
        </p:sp>
      </p:grpSp>
      <p:grpSp>
        <p:nvGrpSpPr>
          <p:cNvPr id="5" name="Group 4">
            <a:extLst>
              <a:ext uri="{FF2B5EF4-FFF2-40B4-BE49-F238E27FC236}">
                <a16:creationId xmlns:a16="http://schemas.microsoft.com/office/drawing/2014/main" xmlns="" id="{1F98AF05-757C-4523-AC16-BD3A1F830310}"/>
              </a:ext>
            </a:extLst>
          </p:cNvPr>
          <p:cNvGrpSpPr/>
          <p:nvPr/>
        </p:nvGrpSpPr>
        <p:grpSpPr>
          <a:xfrm>
            <a:off x="7668344" y="129449"/>
            <a:ext cx="1296144" cy="830413"/>
            <a:chOff x="6804248" y="129448"/>
            <a:chExt cx="2339752" cy="1705661"/>
          </a:xfrm>
        </p:grpSpPr>
        <p:grpSp>
          <p:nvGrpSpPr>
            <p:cNvPr id="6" name="Group 5">
              <a:extLst>
                <a:ext uri="{FF2B5EF4-FFF2-40B4-BE49-F238E27FC236}">
                  <a16:creationId xmlns:a16="http://schemas.microsoft.com/office/drawing/2014/main" xmlns="" id="{77B882B8-983E-40CA-98EC-E128EABD647A}"/>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81E2ABB6-44FF-4222-A08D-2A83C3CFCE98}"/>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843394FB-C582-480C-A24D-36E830E58ADA}"/>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A1C3228E-C108-43FA-AA1E-B349123EC66D}"/>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DE77E2D6-78F9-4A7C-9FEC-945ABB4A0352}"/>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2E17E08D-9773-4D75-9A76-B7AACEAEF005}"/>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37A0E9AA-F36F-4A89-8938-C6CF0D87DD53}"/>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57588F5E-8CCE-4CA3-A870-129218A70C92}"/>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EA2296D3-6D1B-4C7A-81D1-26779DA1857F}"/>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E306F4FE-8D81-4921-99B5-A7F120D7B3D7}"/>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427706" y="398847"/>
            <a:ext cx="8288588" cy="5933995"/>
            <a:chOff x="611560" y="312609"/>
            <a:chExt cx="8288588" cy="5933995"/>
          </a:xfrm>
        </p:grpSpPr>
        <p:sp>
          <p:nvSpPr>
            <p:cNvPr id="3" name="TextBox 2"/>
            <p:cNvSpPr txBox="1"/>
            <p:nvPr/>
          </p:nvSpPr>
          <p:spPr>
            <a:xfrm>
              <a:off x="611560" y="1340768"/>
              <a:ext cx="4464496" cy="4708981"/>
            </a:xfrm>
            <a:prstGeom prst="rect">
              <a:avLst/>
            </a:prstGeom>
            <a:noFill/>
          </p:spPr>
          <p:txBody>
            <a:bodyPr wrap="square">
              <a:spAutoFit/>
            </a:bodyPr>
            <a:lstStyle/>
            <a:p>
              <a:pPr algn="just"/>
              <a:r>
                <a:rPr lang="en-US" sz="2000" dirty="0">
                  <a:solidFill>
                    <a:schemeClr val="bg1"/>
                  </a:solidFill>
                </a:rPr>
                <a:t>The cloud providers actually have the physical data centers to provide virtualized services to their users through Internet. The cloud providers often provide separation between application and data. This scenario is shown in the Figure 2. The underlying physical machines are generally organized in grids and they are usually geographically distributed. Virtualization plays an important role in the cloud scenario. The data center hosts provide the physical hardware on which virtual machines resides. User potentially can use any OS supported by the virtual machines used</a:t>
              </a:r>
              <a:endParaRPr lang="en-IN" sz="2000" dirty="0">
                <a:solidFill>
                  <a:schemeClr val="bg1"/>
                </a:solidFill>
              </a:endParaRPr>
            </a:p>
          </p:txBody>
        </p:sp>
        <p:grpSp>
          <p:nvGrpSpPr>
            <p:cNvPr id="8" name="Group 7"/>
            <p:cNvGrpSpPr/>
            <p:nvPr/>
          </p:nvGrpSpPr>
          <p:grpSpPr>
            <a:xfrm>
              <a:off x="5288741" y="1700808"/>
              <a:ext cx="3611407" cy="4545796"/>
              <a:chOff x="5288741" y="1700808"/>
              <a:chExt cx="3611407" cy="4545796"/>
            </a:xfrm>
          </p:grpSpPr>
          <p:pic>
            <p:nvPicPr>
              <p:cNvPr id="5" name="Picture 4"/>
              <p:cNvPicPr>
                <a:picLocks noChangeAspect="1"/>
              </p:cNvPicPr>
              <p:nvPr/>
            </p:nvPicPr>
            <p:blipFill>
              <a:blip r:embed="rId2"/>
              <a:stretch>
                <a:fillRect/>
              </a:stretch>
            </p:blipFill>
            <p:spPr>
              <a:xfrm>
                <a:off x="5292080" y="1700808"/>
                <a:ext cx="3608068" cy="4080491"/>
              </a:xfrm>
              <a:prstGeom prst="rect">
                <a:avLst/>
              </a:prstGeom>
            </p:spPr>
          </p:pic>
          <p:sp>
            <p:nvSpPr>
              <p:cNvPr id="7" name="TextBox 6"/>
              <p:cNvSpPr txBox="1"/>
              <p:nvPr/>
            </p:nvSpPr>
            <p:spPr>
              <a:xfrm>
                <a:off x="5288741" y="5877272"/>
                <a:ext cx="3608068" cy="369332"/>
              </a:xfrm>
              <a:prstGeom prst="rect">
                <a:avLst/>
              </a:prstGeom>
              <a:noFill/>
            </p:spPr>
            <p:txBody>
              <a:bodyPr wrap="square">
                <a:spAutoFit/>
              </a:bodyPr>
              <a:lstStyle/>
              <a:p>
                <a:pPr algn="ctr"/>
                <a:r>
                  <a:rPr lang="en-IN" dirty="0">
                    <a:solidFill>
                      <a:schemeClr val="bg1"/>
                    </a:solidFill>
                  </a:rPr>
                  <a:t>Basic Cloud Computing Architecture</a:t>
                </a:r>
              </a:p>
            </p:txBody>
          </p:sp>
        </p:grpSp>
        <p:sp>
          <p:nvSpPr>
            <p:cNvPr id="10" name="TextBox 9"/>
            <p:cNvSpPr txBox="1"/>
            <p:nvPr/>
          </p:nvSpPr>
          <p:spPr>
            <a:xfrm>
              <a:off x="611560" y="312609"/>
              <a:ext cx="4677181" cy="646331"/>
            </a:xfrm>
            <a:prstGeom prst="rect">
              <a:avLst/>
            </a:prstGeom>
            <a:noFill/>
          </p:spPr>
          <p:txBody>
            <a:bodyPr wrap="square">
              <a:spAutoFit/>
            </a:bodyPr>
            <a:lstStyle/>
            <a:p>
              <a:r>
                <a:rPr lang="en-US" sz="3600" b="1" dirty="0">
                  <a:solidFill>
                    <a:schemeClr val="bg1"/>
                  </a:solidFill>
                </a:rPr>
                <a:t>CLOUD ARCHITECTURE</a:t>
              </a:r>
              <a:endParaRPr lang="en-IN" sz="3600" dirty="0"/>
            </a:p>
          </p:txBody>
        </p:sp>
      </p:grpSp>
      <p:grpSp>
        <p:nvGrpSpPr>
          <p:cNvPr id="9" name="Group 8">
            <a:extLst>
              <a:ext uri="{FF2B5EF4-FFF2-40B4-BE49-F238E27FC236}">
                <a16:creationId xmlns:a16="http://schemas.microsoft.com/office/drawing/2014/main" xmlns="" id="{F54CD864-A793-4F97-A375-A600668B81E4}"/>
              </a:ext>
            </a:extLst>
          </p:cNvPr>
          <p:cNvGrpSpPr/>
          <p:nvPr/>
        </p:nvGrpSpPr>
        <p:grpSpPr>
          <a:xfrm>
            <a:off x="7092280" y="129449"/>
            <a:ext cx="1872208" cy="1297557"/>
            <a:chOff x="6804248" y="129448"/>
            <a:chExt cx="2339752" cy="1705661"/>
          </a:xfrm>
        </p:grpSpPr>
        <p:grpSp>
          <p:nvGrpSpPr>
            <p:cNvPr id="12" name="Group 11">
              <a:extLst>
                <a:ext uri="{FF2B5EF4-FFF2-40B4-BE49-F238E27FC236}">
                  <a16:creationId xmlns:a16="http://schemas.microsoft.com/office/drawing/2014/main" xmlns="" id="{086CAD75-96CD-4D6B-89B1-291ED56204D6}"/>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8" name="Rounded Rectangle 11">
                <a:extLst>
                  <a:ext uri="{FF2B5EF4-FFF2-40B4-BE49-F238E27FC236}">
                    <a16:creationId xmlns:a16="http://schemas.microsoft.com/office/drawing/2014/main" xmlns="" id="{4A5D4B40-E108-400D-93E5-AFBBD57457BB}"/>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xmlns="" id="{9DC7DA23-916F-410D-B860-266C9609F910}"/>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xmlns="" id="{47FD4836-5DD2-44F8-B86F-5353FC438819}"/>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xmlns="" id="{75C8CEF5-3789-4EF2-9A3C-3F83F72917DC}"/>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3" name="Group 12">
              <a:extLst>
                <a:ext uri="{FF2B5EF4-FFF2-40B4-BE49-F238E27FC236}">
                  <a16:creationId xmlns:a16="http://schemas.microsoft.com/office/drawing/2014/main" xmlns="" id="{752A8833-B9D8-4E85-B106-BB0176284831}"/>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14" name="Rounded Rectangle 7">
                <a:extLst>
                  <a:ext uri="{FF2B5EF4-FFF2-40B4-BE49-F238E27FC236}">
                    <a16:creationId xmlns:a16="http://schemas.microsoft.com/office/drawing/2014/main" xmlns="" id="{FBC19820-59D7-4DF5-A49A-CCD37AA12AB0}"/>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1EE2BF19-DA07-478E-B6B3-5F2BCEBFFACE}"/>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xmlns="" id="{A04B9950-2068-4F0B-A259-321DC7EA08ED}"/>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xmlns="" id="{EDEA3E1C-EC10-42AA-B789-035DAFEDD6E2}"/>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372966"/>
            <a:ext cx="8352928" cy="6192368"/>
            <a:chOff x="395536" y="372966"/>
            <a:chExt cx="8352928" cy="6192368"/>
          </a:xfrm>
        </p:grpSpPr>
        <p:sp>
          <p:nvSpPr>
            <p:cNvPr id="3" name="TextBox 2"/>
            <p:cNvSpPr txBox="1"/>
            <p:nvPr/>
          </p:nvSpPr>
          <p:spPr>
            <a:xfrm>
              <a:off x="395536" y="980728"/>
              <a:ext cx="8352928" cy="5584606"/>
            </a:xfrm>
            <a:prstGeom prst="rect">
              <a:avLst/>
            </a:prstGeom>
            <a:noFill/>
          </p:spPr>
          <p:txBody>
            <a:bodyPr wrap="square">
              <a:spAutoFit/>
            </a:bodyPr>
            <a:lstStyle/>
            <a:p>
              <a:pPr algn="just">
                <a:lnSpc>
                  <a:spcPct val="150000"/>
                </a:lnSpc>
              </a:pPr>
              <a:r>
                <a:rPr lang="en-US" sz="2000" dirty="0">
                  <a:solidFill>
                    <a:schemeClr val="bg1"/>
                  </a:solidFill>
                </a:rPr>
                <a:t>Operating systems are designed for specific hardware and software. It results in the lack of portability of operating system and software from one machine to another machine which uses different instruction set architecture. The concept of virtual machine solves this problem by acting as an interface between the hardware and the operating system called as system VMs. Another category of virtual machine is called process virtual machine which acts as an abstract layer between the operating system and applications. Virtualization can be very roughly said to be as software translating the hardware instructions generated by conventional software to the understandable format for the physical hardware. Virtualization also includes the mapping of virtual resources like registers and memory to real hardware resources. </a:t>
              </a:r>
              <a:endParaRPr lang="en-IN" sz="2000" dirty="0">
                <a:solidFill>
                  <a:schemeClr val="bg1"/>
                </a:solidFill>
              </a:endParaRPr>
            </a:p>
          </p:txBody>
        </p:sp>
        <p:sp>
          <p:nvSpPr>
            <p:cNvPr id="4" name="TextBox 3"/>
            <p:cNvSpPr txBox="1"/>
            <p:nvPr/>
          </p:nvSpPr>
          <p:spPr>
            <a:xfrm>
              <a:off x="453215" y="372966"/>
              <a:ext cx="3024336"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grpSp>
        <p:nvGrpSpPr>
          <p:cNvPr id="5" name="Group 4">
            <a:extLst>
              <a:ext uri="{FF2B5EF4-FFF2-40B4-BE49-F238E27FC236}">
                <a16:creationId xmlns:a16="http://schemas.microsoft.com/office/drawing/2014/main" xmlns="" id="{05BAF8B3-A1D0-44D8-9CFE-70788D9A4600}"/>
              </a:ext>
            </a:extLst>
          </p:cNvPr>
          <p:cNvGrpSpPr/>
          <p:nvPr/>
        </p:nvGrpSpPr>
        <p:grpSpPr>
          <a:xfrm>
            <a:off x="7812360" y="129449"/>
            <a:ext cx="1152128" cy="851279"/>
            <a:chOff x="6804248" y="129448"/>
            <a:chExt cx="2339752" cy="1705661"/>
          </a:xfrm>
        </p:grpSpPr>
        <p:grpSp>
          <p:nvGrpSpPr>
            <p:cNvPr id="6" name="Group 5">
              <a:extLst>
                <a:ext uri="{FF2B5EF4-FFF2-40B4-BE49-F238E27FC236}">
                  <a16:creationId xmlns:a16="http://schemas.microsoft.com/office/drawing/2014/main" xmlns="" id="{287C0561-7B51-44AF-84FE-9F80F31C70F0}"/>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1D54E278-2592-458C-91FE-64156CACD5C2}"/>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A2C60DF3-03BF-4EE8-A284-6EBB655C8175}"/>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F6AAB843-00C0-47E7-BBD3-4000AC700D2C}"/>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E69EE4EA-7AB3-44B4-B69C-BA809D8D3028}"/>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E52D9D72-7C9A-442C-B1B4-E9B89A2A7A19}"/>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784E2EB7-82FC-4F58-BF88-AA7C55FBB402}"/>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7ECDB008-B041-4416-976B-09464E947CCC}"/>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DD16F74C-A715-48C9-A19F-B131E0632B45}"/>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0D7F0597-8907-414C-ABCE-7399CE5009E9}"/>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533325" y="413670"/>
            <a:ext cx="8143131" cy="6221931"/>
            <a:chOff x="533325" y="413670"/>
            <a:chExt cx="8143131" cy="6221931"/>
          </a:xfrm>
        </p:grpSpPr>
        <p:sp>
          <p:nvSpPr>
            <p:cNvPr id="2" name="TextBox 1"/>
            <p:cNvSpPr txBox="1"/>
            <p:nvPr/>
          </p:nvSpPr>
          <p:spPr>
            <a:xfrm>
              <a:off x="533325" y="413670"/>
              <a:ext cx="3456384" cy="646331"/>
            </a:xfrm>
            <a:prstGeom prst="rect">
              <a:avLst/>
            </a:prstGeom>
            <a:noFill/>
          </p:spPr>
          <p:txBody>
            <a:bodyPr wrap="square" rtlCol="0">
              <a:spAutoFit/>
            </a:bodyPr>
            <a:lstStyle/>
            <a:p>
              <a:r>
                <a:rPr lang="en-US" sz="3600" b="1" dirty="0">
                  <a:solidFill>
                    <a:schemeClr val="bg1"/>
                  </a:solidFill>
                </a:rPr>
                <a:t>NIST MODEL</a:t>
              </a:r>
              <a:endParaRPr lang="en-IN" sz="3600" b="1" dirty="0">
                <a:solidFill>
                  <a:schemeClr val="bg1"/>
                </a:solidFill>
              </a:endParaRPr>
            </a:p>
          </p:txBody>
        </p:sp>
        <p:sp>
          <p:nvSpPr>
            <p:cNvPr id="4" name="TextBox 3"/>
            <p:cNvSpPr txBox="1"/>
            <p:nvPr/>
          </p:nvSpPr>
          <p:spPr>
            <a:xfrm>
              <a:off x="539552" y="1050995"/>
              <a:ext cx="8136904" cy="5584606"/>
            </a:xfrm>
            <a:prstGeom prst="rect">
              <a:avLst/>
            </a:prstGeom>
            <a:noFill/>
          </p:spPr>
          <p:txBody>
            <a:bodyPr wrap="square">
              <a:spAutoFit/>
            </a:bodyPr>
            <a:lstStyle/>
            <a:p>
              <a:pPr algn="just">
                <a:lnSpc>
                  <a:spcPct val="150000"/>
                </a:lnSpc>
              </a:pPr>
              <a:r>
                <a:rPr lang="en-US" sz="2000" dirty="0">
                  <a:solidFill>
                    <a:schemeClr val="bg1"/>
                  </a:solidFill>
                </a:rPr>
                <a:t>NIST defined cloud computing</a:t>
              </a:r>
              <a:r>
                <a:rPr lang="en-US" sz="2000" dirty="0">
                  <a:solidFill>
                    <a:schemeClr val="bg1"/>
                  </a:solidFill>
                  <a:effectLst/>
                </a:rPr>
                <a:t> as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 </a:t>
              </a:r>
              <a:r>
                <a:rPr lang="en-US" sz="2000" b="0" i="0" dirty="0">
                  <a:solidFill>
                    <a:schemeClr val="bg1"/>
                  </a:solidFill>
                  <a:effectLst/>
                </a:rPr>
                <a:t>NISTs definition identified self-service, accessibility from desktops, laptops, and mobile phones, resources that are pooled among multiple users and applications, elastic resources that can be rapidly reapportioned as needed, and measured service as the five essential characteristics of cloud computing. When these characteristics are combined, they create cloud computing infrastructure that contains both a physical layer and an abstraction layer. </a:t>
              </a:r>
            </a:p>
          </p:txBody>
        </p:sp>
      </p:grpSp>
      <p:grpSp>
        <p:nvGrpSpPr>
          <p:cNvPr id="5" name="Group 4">
            <a:extLst>
              <a:ext uri="{FF2B5EF4-FFF2-40B4-BE49-F238E27FC236}">
                <a16:creationId xmlns:a16="http://schemas.microsoft.com/office/drawing/2014/main" xmlns="" id="{E8650E68-DA85-40CC-8909-5CBC3B9859ED}"/>
              </a:ext>
            </a:extLst>
          </p:cNvPr>
          <p:cNvGrpSpPr/>
          <p:nvPr/>
        </p:nvGrpSpPr>
        <p:grpSpPr>
          <a:xfrm>
            <a:off x="7452320" y="129449"/>
            <a:ext cx="1512168" cy="930552"/>
            <a:chOff x="6804248" y="129448"/>
            <a:chExt cx="2339752" cy="1705661"/>
          </a:xfrm>
        </p:grpSpPr>
        <p:grpSp>
          <p:nvGrpSpPr>
            <p:cNvPr id="6" name="Group 5">
              <a:extLst>
                <a:ext uri="{FF2B5EF4-FFF2-40B4-BE49-F238E27FC236}">
                  <a16:creationId xmlns:a16="http://schemas.microsoft.com/office/drawing/2014/main" xmlns="" id="{9E4C9307-7C5E-45CD-AA9F-FA6F581A4044}"/>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C1C26AFC-E1BE-4586-865A-88086BD0B705}"/>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38B345C0-B2D6-4E5F-8C3C-B99F06CBA70A}"/>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64852D57-0A24-4504-91FE-192895717770}"/>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C175DF10-2117-4042-9BF8-F82F454FCBFC}"/>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431CE62B-15E2-4691-8210-49188198136F}"/>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6DBDBB46-BCB0-4281-AB43-55A62C1A4B0F}"/>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1B61D735-E02F-48A7-9F64-04F58AB8F6B6}"/>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D9D48899-2747-46E0-89E5-94D8AB6B7B89}"/>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ECA48ABB-4877-4B28-818D-444AC37A57EF}"/>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384538"/>
            <a:ext cx="8280920" cy="6125229"/>
            <a:chOff x="395536" y="384538"/>
            <a:chExt cx="8280920" cy="6125229"/>
          </a:xfrm>
        </p:grpSpPr>
        <p:pic>
          <p:nvPicPr>
            <p:cNvPr id="1026" name="Picture 2" descr="nist-cloud-i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7056" y="3717032"/>
              <a:ext cx="4049888" cy="27927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95536" y="1404393"/>
              <a:ext cx="8280920" cy="1891287"/>
            </a:xfrm>
            <a:prstGeom prst="rect">
              <a:avLst/>
            </a:prstGeom>
            <a:noFill/>
          </p:spPr>
          <p:txBody>
            <a:bodyPr wrap="square">
              <a:spAutoFit/>
            </a:bodyPr>
            <a:lstStyle/>
            <a:p>
              <a:pPr algn="just">
                <a:lnSpc>
                  <a:spcPct val="150000"/>
                </a:lnSpc>
              </a:pPr>
              <a:r>
                <a:rPr lang="en-US" sz="2000" b="0" i="0" dirty="0">
                  <a:solidFill>
                    <a:schemeClr val="bg1"/>
                  </a:solidFill>
                  <a:effectLst/>
                </a:rPr>
                <a:t>The physical layer consists of hardware resources that support the cloud services (i.e. servers, storage and network components). The abstraction layer consists of the software deployed across the physical layer, thereby expressing the essential characteristics of the cloud per NISTs definition.</a:t>
              </a:r>
              <a:endParaRPr lang="en-IN" sz="2000" dirty="0"/>
            </a:p>
          </p:txBody>
        </p:sp>
        <p:sp>
          <p:nvSpPr>
            <p:cNvPr id="5" name="TextBox 4"/>
            <p:cNvSpPr txBox="1"/>
            <p:nvPr/>
          </p:nvSpPr>
          <p:spPr>
            <a:xfrm>
              <a:off x="442530" y="384538"/>
              <a:ext cx="3024336"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grpSp>
        <p:nvGrpSpPr>
          <p:cNvPr id="6" name="Group 5">
            <a:extLst>
              <a:ext uri="{FF2B5EF4-FFF2-40B4-BE49-F238E27FC236}">
                <a16:creationId xmlns:a16="http://schemas.microsoft.com/office/drawing/2014/main" xmlns="" id="{6B722299-0760-4BE7-A3D8-5D05C711A026}"/>
              </a:ext>
            </a:extLst>
          </p:cNvPr>
          <p:cNvGrpSpPr/>
          <p:nvPr/>
        </p:nvGrpSpPr>
        <p:grpSpPr>
          <a:xfrm>
            <a:off x="6948264" y="129449"/>
            <a:ext cx="2016224" cy="1274944"/>
            <a:chOff x="6804248" y="129448"/>
            <a:chExt cx="2339752" cy="1705661"/>
          </a:xfrm>
        </p:grpSpPr>
        <p:grpSp>
          <p:nvGrpSpPr>
            <p:cNvPr id="7" name="Group 6">
              <a:extLst>
                <a:ext uri="{FF2B5EF4-FFF2-40B4-BE49-F238E27FC236}">
                  <a16:creationId xmlns:a16="http://schemas.microsoft.com/office/drawing/2014/main" xmlns="" id="{31FDFA4F-B602-4948-9153-CE9733846B84}"/>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3" name="Rounded Rectangle 11">
                <a:extLst>
                  <a:ext uri="{FF2B5EF4-FFF2-40B4-BE49-F238E27FC236}">
                    <a16:creationId xmlns:a16="http://schemas.microsoft.com/office/drawing/2014/main" xmlns="" id="{906D1AEB-D5B1-4646-9EFF-ADCB6A32C696}"/>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10D08F89-4087-49F9-AA95-43B51B84D77E}"/>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4DBF6403-82D1-4B7F-8A5A-7E70DD1AC6D2}"/>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xmlns="" id="{7AC16990-CEB4-4D8E-AD0C-2D957BB4C59F}"/>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 name="Group 7">
              <a:extLst>
                <a:ext uri="{FF2B5EF4-FFF2-40B4-BE49-F238E27FC236}">
                  <a16:creationId xmlns:a16="http://schemas.microsoft.com/office/drawing/2014/main" xmlns="" id="{A235E750-A3BD-4AE2-BF63-93C82A0D61B5}"/>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9" name="Rounded Rectangle 7">
                <a:extLst>
                  <a:ext uri="{FF2B5EF4-FFF2-40B4-BE49-F238E27FC236}">
                    <a16:creationId xmlns:a16="http://schemas.microsoft.com/office/drawing/2014/main" xmlns="" id="{153C9584-3FA7-46A9-867F-B2CDC6E01003}"/>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4D1EDA1C-74D9-4037-846D-3AC1CA480D60}"/>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ADAFD04E-0FBC-4059-A028-3CEAB9C13C14}"/>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xmlns="" id="{E3118727-BCCF-4C16-B161-A02FFA44F8BB}"/>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31540" y="372012"/>
            <a:ext cx="8280920" cy="5947681"/>
            <a:chOff x="431540" y="372012"/>
            <a:chExt cx="8280920" cy="5947681"/>
          </a:xfrm>
        </p:grpSpPr>
        <p:sp>
          <p:nvSpPr>
            <p:cNvPr id="2" name="TextBox 1"/>
            <p:cNvSpPr txBox="1"/>
            <p:nvPr/>
          </p:nvSpPr>
          <p:spPr>
            <a:xfrm>
              <a:off x="671606" y="372012"/>
              <a:ext cx="3024336"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sp>
          <p:nvSpPr>
            <p:cNvPr id="4" name="TextBox 3"/>
            <p:cNvSpPr txBox="1"/>
            <p:nvPr/>
          </p:nvSpPr>
          <p:spPr>
            <a:xfrm>
              <a:off x="431540" y="1196752"/>
              <a:ext cx="8280920" cy="5122941"/>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000" b="1" i="0" dirty="0">
                  <a:solidFill>
                    <a:schemeClr val="bg1"/>
                  </a:solidFill>
                  <a:effectLst/>
                </a:rPr>
                <a:t>Deployment Models:- </a:t>
              </a:r>
              <a:r>
                <a:rPr lang="en-US" sz="2000" b="0" i="0" dirty="0">
                  <a:solidFill>
                    <a:schemeClr val="bg1"/>
                  </a:solidFill>
                  <a:effectLst/>
                </a:rPr>
                <a:t>A cloud deployment models represent a specific type of cloud environment that are distinguished by ownership, size, and access. NIST offers guidance via their definitions of each of the four deployment cloud models (Private, Community, Public, and Hybrid). Although a one-size-fits all cloud solution does not exist, each model offers to fill a specific niche for a client based on its inherent features and abilities.</a:t>
              </a:r>
            </a:p>
            <a:p>
              <a:pPr marL="342900" indent="-342900" algn="just">
                <a:lnSpc>
                  <a:spcPct val="150000"/>
                </a:lnSpc>
                <a:buFont typeface="Wingdings" panose="05000000000000000000" pitchFamily="2" charset="2"/>
                <a:buChar char="ü"/>
              </a:pPr>
              <a:r>
                <a:rPr lang="en-US" sz="2000" b="1" i="0" dirty="0">
                  <a:solidFill>
                    <a:schemeClr val="bg1"/>
                  </a:solidFill>
                  <a:effectLst/>
                </a:rPr>
                <a:t>Service Models:-</a:t>
              </a:r>
              <a:r>
                <a:rPr lang="en-US" sz="2000" dirty="0">
                  <a:solidFill>
                    <a:schemeClr val="bg1"/>
                  </a:solidFill>
                </a:rPr>
                <a:t> </a:t>
              </a:r>
              <a:r>
                <a:rPr lang="en-US" sz="2000" b="0" i="0" dirty="0">
                  <a:solidFill>
                    <a:schemeClr val="bg1"/>
                  </a:solidFill>
                  <a:effectLst/>
                </a:rPr>
                <a:t>The many paradigms of cloud computing can be broken down into three unique service model classifications: Software as a Service (SaaS), Platform as a Service (PaaS), and Infrastructure as a Service (IaaS). NIST defines each of these three service models in a highly technical sense.</a:t>
              </a:r>
            </a:p>
          </p:txBody>
        </p:sp>
      </p:grpSp>
      <p:grpSp>
        <p:nvGrpSpPr>
          <p:cNvPr id="5" name="Group 4">
            <a:extLst>
              <a:ext uri="{FF2B5EF4-FFF2-40B4-BE49-F238E27FC236}">
                <a16:creationId xmlns:a16="http://schemas.microsoft.com/office/drawing/2014/main" xmlns="" id="{493569A2-F58D-454A-B4B2-F570741195A2}"/>
              </a:ext>
            </a:extLst>
          </p:cNvPr>
          <p:cNvGrpSpPr/>
          <p:nvPr/>
        </p:nvGrpSpPr>
        <p:grpSpPr>
          <a:xfrm>
            <a:off x="7380312" y="129449"/>
            <a:ext cx="1584176" cy="1067303"/>
            <a:chOff x="6804248" y="129448"/>
            <a:chExt cx="2339752" cy="1705661"/>
          </a:xfrm>
        </p:grpSpPr>
        <p:grpSp>
          <p:nvGrpSpPr>
            <p:cNvPr id="6" name="Group 5">
              <a:extLst>
                <a:ext uri="{FF2B5EF4-FFF2-40B4-BE49-F238E27FC236}">
                  <a16:creationId xmlns:a16="http://schemas.microsoft.com/office/drawing/2014/main" xmlns="" id="{8EC4F81C-655A-4965-A3F6-4D4DEA29C351}"/>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13D182CB-4AC6-4087-8B70-68120D9BA266}"/>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14E88A45-DD0B-4CE7-9B6D-9158A1864BC6}"/>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861D841B-541F-45E8-8904-15CEA124B66B}"/>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D92E6063-C6EC-4AAC-A6CE-BABEFC9731E9}"/>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FEB07A36-E5FB-49B8-85B4-CEE28A774F9A}"/>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D91769C6-3637-4AFA-859E-9DF30E84AC43}"/>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EC7A139B-98A1-42A7-A3F1-DFD2548F07E1}"/>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DB113B09-8E2B-450B-99BA-FF25AFF3605A}"/>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9E681799-0AB1-4E84-8DE7-19A67B597F87}"/>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23528" y="387912"/>
            <a:ext cx="8496944" cy="6281448"/>
            <a:chOff x="323528" y="387912"/>
            <a:chExt cx="8496944" cy="6281448"/>
          </a:xfrm>
        </p:grpSpPr>
        <p:sp>
          <p:nvSpPr>
            <p:cNvPr id="2" name="TextBox 1"/>
            <p:cNvSpPr txBox="1"/>
            <p:nvPr/>
          </p:nvSpPr>
          <p:spPr>
            <a:xfrm>
              <a:off x="323528" y="387912"/>
              <a:ext cx="7632848" cy="646331"/>
            </a:xfrm>
            <a:prstGeom prst="rect">
              <a:avLst/>
            </a:prstGeom>
            <a:noFill/>
          </p:spPr>
          <p:txBody>
            <a:bodyPr wrap="square" rtlCol="0">
              <a:spAutoFit/>
            </a:bodyPr>
            <a:lstStyle/>
            <a:p>
              <a:r>
                <a:rPr lang="en-US" sz="3600" b="1" dirty="0">
                  <a:solidFill>
                    <a:schemeClr val="bg1"/>
                  </a:solidFill>
                </a:rPr>
                <a:t>ADVANTAGE OF CLOUD COMPUTING</a:t>
              </a:r>
              <a:endParaRPr lang="en-IN" sz="3600" b="1" dirty="0">
                <a:solidFill>
                  <a:schemeClr val="bg1"/>
                </a:solidFill>
              </a:endParaRPr>
            </a:p>
          </p:txBody>
        </p:sp>
        <p:sp>
          <p:nvSpPr>
            <p:cNvPr id="4" name="TextBox 3"/>
            <p:cNvSpPr txBox="1"/>
            <p:nvPr/>
          </p:nvSpPr>
          <p:spPr>
            <a:xfrm>
              <a:off x="323528" y="1084754"/>
              <a:ext cx="8496944" cy="5584606"/>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000" b="1" i="0" dirty="0">
                  <a:solidFill>
                    <a:schemeClr val="bg1"/>
                  </a:solidFill>
                  <a:effectLst/>
                </a:rPr>
                <a:t>Cost Savings:- </a:t>
              </a:r>
              <a:r>
                <a:rPr lang="en-US" sz="2000" b="0" i="0" dirty="0">
                  <a:solidFill>
                    <a:schemeClr val="bg1"/>
                  </a:solidFill>
                  <a:effectLst/>
                </a:rPr>
                <a:t>Cost saving is one of the biggest Cloud Computing benefits. It helps you to save substantial capital cost as it does not need any physical hardware investments. Also, you do not need trained personnel to maintain the hardware. The buying and managing of equipment is done by the cloud service provider.</a:t>
              </a:r>
            </a:p>
            <a:p>
              <a:pPr marL="342900" indent="-342900" algn="just">
                <a:lnSpc>
                  <a:spcPct val="150000"/>
                </a:lnSpc>
                <a:buFont typeface="Wingdings" panose="05000000000000000000" pitchFamily="2" charset="2"/>
                <a:buChar char="ü"/>
              </a:pPr>
              <a:r>
                <a:rPr lang="en-US" sz="2000" b="1" i="0" dirty="0">
                  <a:solidFill>
                    <a:schemeClr val="bg1"/>
                  </a:solidFill>
                  <a:effectLst/>
                </a:rPr>
                <a:t>Strategic edge:- </a:t>
              </a:r>
              <a:r>
                <a:rPr lang="en-US" sz="2000" b="0" i="0" dirty="0">
                  <a:solidFill>
                    <a:schemeClr val="bg1"/>
                  </a:solidFill>
                  <a:effectLst/>
                </a:rPr>
                <a:t>Cloud computing offers a competitive edge over your competitors. It is one of the best advantages of Cloud services that helps you to access the latest applications any time without spending your time and money on installations.</a:t>
              </a:r>
            </a:p>
            <a:p>
              <a:pPr marL="342900" indent="-342900" algn="just">
                <a:lnSpc>
                  <a:spcPct val="150000"/>
                </a:lnSpc>
                <a:buFont typeface="Wingdings" panose="05000000000000000000" pitchFamily="2" charset="2"/>
                <a:buChar char="ü"/>
              </a:pPr>
              <a:r>
                <a:rPr lang="en-US" sz="2000" b="1" i="0" dirty="0">
                  <a:solidFill>
                    <a:schemeClr val="bg1"/>
                  </a:solidFill>
                  <a:effectLst/>
                </a:rPr>
                <a:t>High Speed:- </a:t>
              </a:r>
              <a:r>
                <a:rPr lang="en-US" sz="2000" b="0" i="0" dirty="0">
                  <a:solidFill>
                    <a:schemeClr val="bg1"/>
                  </a:solidFill>
                  <a:effectLst/>
                </a:rPr>
                <a:t>Cloud computing allows you to deploy your service quickly in fewer clicks. This faster deployment allows you to get the resources required for your system within fewer minutes.</a:t>
              </a:r>
            </a:p>
          </p:txBody>
        </p:sp>
      </p:grpSp>
      <p:grpSp>
        <p:nvGrpSpPr>
          <p:cNvPr id="5" name="Group 4">
            <a:extLst>
              <a:ext uri="{FF2B5EF4-FFF2-40B4-BE49-F238E27FC236}">
                <a16:creationId xmlns:a16="http://schemas.microsoft.com/office/drawing/2014/main" xmlns="" id="{F4E90E50-0A3F-45B1-A081-7BFE8732533A}"/>
              </a:ext>
            </a:extLst>
          </p:cNvPr>
          <p:cNvGrpSpPr/>
          <p:nvPr/>
        </p:nvGrpSpPr>
        <p:grpSpPr>
          <a:xfrm>
            <a:off x="7956376" y="129449"/>
            <a:ext cx="1008112" cy="904794"/>
            <a:chOff x="6804248" y="129448"/>
            <a:chExt cx="2339752" cy="1705661"/>
          </a:xfrm>
        </p:grpSpPr>
        <p:grpSp>
          <p:nvGrpSpPr>
            <p:cNvPr id="6" name="Group 5">
              <a:extLst>
                <a:ext uri="{FF2B5EF4-FFF2-40B4-BE49-F238E27FC236}">
                  <a16:creationId xmlns:a16="http://schemas.microsoft.com/office/drawing/2014/main" xmlns="" id="{C34B7E57-E221-4C4E-8270-6FD7C65A6927}"/>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CC190D83-2358-44CC-BCA9-E66D1F604817}"/>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4611D07A-C81C-4099-B9B0-193CE3EDAE90}"/>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EE898484-8129-4907-9976-74C77762880D}"/>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E3EEB3CB-0AB1-46E5-B719-AAB80DA808DE}"/>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017E6771-4199-4AAE-B6AD-17CCA64785E0}"/>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F6E17CE0-791D-4219-B9AA-CC60150D175C}"/>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CACDF92B-EBF9-429D-A1B3-5780328DA436}"/>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D33F6F9C-3024-40F7-88B9-508D67021AA1}"/>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FB24D127-415E-4CB2-8810-C00F7CC18847}"/>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605" y="313531"/>
            <a:ext cx="8403590" cy="6298724"/>
            <a:chOff x="395605" y="313531"/>
            <a:chExt cx="8403590" cy="6298724"/>
          </a:xfrm>
        </p:grpSpPr>
        <p:sp>
          <p:nvSpPr>
            <p:cNvPr id="3" name="TextBox 2"/>
            <p:cNvSpPr txBox="1"/>
            <p:nvPr/>
          </p:nvSpPr>
          <p:spPr>
            <a:xfrm>
              <a:off x="395605" y="981075"/>
              <a:ext cx="8403590" cy="5631180"/>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000" b="1" i="0" dirty="0">
                  <a:solidFill>
                    <a:schemeClr val="bg1"/>
                  </a:solidFill>
                  <a:effectLst/>
                </a:rPr>
                <a:t>Back-up and restore data:- </a:t>
              </a:r>
              <a:r>
                <a:rPr lang="en-US" sz="2000" b="0" i="0" dirty="0">
                  <a:solidFill>
                    <a:schemeClr val="bg1"/>
                  </a:solidFill>
                  <a:effectLst/>
                </a:rPr>
                <a:t>Once the data is stored in a Cloud, it is easier to get the back-up and recovery of that, which is otherwise very time taking process on-premise.</a:t>
              </a:r>
            </a:p>
            <a:p>
              <a:pPr marL="342900" indent="-342900" algn="just">
                <a:lnSpc>
                  <a:spcPct val="150000"/>
                </a:lnSpc>
                <a:buFont typeface="Wingdings" panose="05000000000000000000" pitchFamily="2" charset="2"/>
                <a:buChar char="ü"/>
              </a:pPr>
              <a:r>
                <a:rPr lang="en-US" sz="2000" b="1" i="0" dirty="0">
                  <a:solidFill>
                    <a:schemeClr val="bg1"/>
                  </a:solidFill>
                  <a:effectLst/>
                </a:rPr>
                <a:t>Automatic Software Integration:- </a:t>
              </a:r>
              <a:r>
                <a:rPr lang="en-US" sz="2000" b="0" i="0" dirty="0">
                  <a:solidFill>
                    <a:schemeClr val="bg1"/>
                  </a:solidFill>
                  <a:effectLst/>
                </a:rPr>
                <a:t>In the cloud, software integration is something that occurs automatically. Therefore, you don't need to take additional efforts to customize and integrate your applications as per your preferences.</a:t>
              </a:r>
            </a:p>
            <a:p>
              <a:pPr marL="342900" indent="-342900" algn="just">
                <a:lnSpc>
                  <a:spcPct val="150000"/>
                </a:lnSpc>
                <a:buFont typeface="Wingdings" panose="05000000000000000000" pitchFamily="2" charset="2"/>
                <a:buChar char="ü"/>
              </a:pPr>
              <a:r>
                <a:rPr lang="en-US" sz="2000" b="1" i="0" dirty="0">
                  <a:solidFill>
                    <a:schemeClr val="bg1"/>
                  </a:solidFill>
                  <a:effectLst/>
                </a:rPr>
                <a:t>Reliability:- </a:t>
              </a:r>
              <a:r>
                <a:rPr lang="en-US" sz="2000" b="0" i="0" dirty="0">
                  <a:solidFill>
                    <a:schemeClr val="bg1"/>
                  </a:solidFill>
                  <a:effectLst/>
                </a:rPr>
                <a:t>Reliability is one of the biggest benefits of Cloud hosting. You can always get instantly updated about the changes.</a:t>
              </a:r>
            </a:p>
            <a:p>
              <a:pPr marL="342900" indent="-342900" algn="just">
                <a:lnSpc>
                  <a:spcPct val="150000"/>
                </a:lnSpc>
                <a:buFont typeface="Wingdings" panose="05000000000000000000" pitchFamily="2" charset="2"/>
                <a:buChar char="ü"/>
              </a:pPr>
              <a:r>
                <a:rPr lang="en-US" sz="2000" b="1" i="0" dirty="0">
                  <a:solidFill>
                    <a:schemeClr val="bg1"/>
                  </a:solidFill>
                  <a:effectLst/>
                </a:rPr>
                <a:t>Mobility:- </a:t>
              </a:r>
              <a:r>
                <a:rPr lang="en-US" sz="2000" b="0" i="0" dirty="0">
                  <a:solidFill>
                    <a:schemeClr val="bg1"/>
                  </a:solidFill>
                  <a:effectLst/>
                </a:rPr>
                <a:t>Employees who are working on the premises or at the remote locations can easily access all the could services. All they need is an Internet connectivity.</a:t>
              </a:r>
            </a:p>
          </p:txBody>
        </p:sp>
        <p:sp>
          <p:nvSpPr>
            <p:cNvPr id="4" name="TextBox 3"/>
            <p:cNvSpPr txBox="1"/>
            <p:nvPr/>
          </p:nvSpPr>
          <p:spPr>
            <a:xfrm>
              <a:off x="611560" y="313531"/>
              <a:ext cx="3024336"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grpSp>
        <p:nvGrpSpPr>
          <p:cNvPr id="5" name="Group 4">
            <a:extLst>
              <a:ext uri="{FF2B5EF4-FFF2-40B4-BE49-F238E27FC236}">
                <a16:creationId xmlns:a16="http://schemas.microsoft.com/office/drawing/2014/main" xmlns="" id="{7CB38DF2-874F-4D8D-9E04-E3ABE60DB584}"/>
              </a:ext>
            </a:extLst>
          </p:cNvPr>
          <p:cNvGrpSpPr/>
          <p:nvPr/>
        </p:nvGrpSpPr>
        <p:grpSpPr>
          <a:xfrm>
            <a:off x="7740352" y="129449"/>
            <a:ext cx="1224136" cy="851626"/>
            <a:chOff x="6804248" y="129448"/>
            <a:chExt cx="2339752" cy="1705661"/>
          </a:xfrm>
        </p:grpSpPr>
        <p:grpSp>
          <p:nvGrpSpPr>
            <p:cNvPr id="6" name="Group 5">
              <a:extLst>
                <a:ext uri="{FF2B5EF4-FFF2-40B4-BE49-F238E27FC236}">
                  <a16:creationId xmlns:a16="http://schemas.microsoft.com/office/drawing/2014/main" xmlns="" id="{4AC2F9CA-28A0-4FAF-A3E0-F0FCE4FEEB08}"/>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5F395F92-EDC7-44E4-A228-41550EC7DF10}"/>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A7AE7FC5-F156-47C5-84DE-198C6D9E7BDD}"/>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E9EBD4E4-DD51-49FD-A1DF-F73DD0F1F54C}"/>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879227B5-1919-4335-A8F6-7524DDF06F93}"/>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F993DE0B-95F9-4A3D-BD95-BC76BBF1C943}"/>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5BC30139-796F-4820-92D0-E8EE7375EC62}"/>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E6A799E8-F88B-4370-948F-F7565906CB21}"/>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74881A55-874E-43A5-9F63-8EC9237C7199}"/>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6E7D15C7-5682-48C5-B4C4-F6A567C24508}"/>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9532" y="313531"/>
            <a:ext cx="8424936" cy="6150178"/>
            <a:chOff x="359532" y="313531"/>
            <a:chExt cx="8424936" cy="6150178"/>
          </a:xfrm>
        </p:grpSpPr>
        <p:sp>
          <p:nvSpPr>
            <p:cNvPr id="4" name="TextBox 3"/>
            <p:cNvSpPr txBox="1"/>
            <p:nvPr/>
          </p:nvSpPr>
          <p:spPr>
            <a:xfrm>
              <a:off x="359532" y="1340768"/>
              <a:ext cx="8424936" cy="5122941"/>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000" b="1" i="0" dirty="0">
                  <a:solidFill>
                    <a:schemeClr val="bg1"/>
                  </a:solidFill>
                  <a:effectLst/>
                </a:rPr>
                <a:t>Unlimited storage capacity:- </a:t>
              </a:r>
              <a:r>
                <a:rPr lang="en-US" sz="2000" b="0" i="0" dirty="0">
                  <a:solidFill>
                    <a:schemeClr val="bg1"/>
                  </a:solidFill>
                  <a:effectLst/>
                </a:rPr>
                <a:t>The cloud offers almost limitless storage capacity. At any time you can quickly expand your storage capacity with very nominal monthly fees.</a:t>
              </a:r>
            </a:p>
            <a:p>
              <a:pPr marL="342900" indent="-342900" algn="just">
                <a:lnSpc>
                  <a:spcPct val="150000"/>
                </a:lnSpc>
                <a:buFont typeface="Wingdings" panose="05000000000000000000" pitchFamily="2" charset="2"/>
                <a:buChar char="ü"/>
              </a:pPr>
              <a:r>
                <a:rPr lang="en-US" sz="2000" b="1" i="0" dirty="0">
                  <a:solidFill>
                    <a:schemeClr val="bg1"/>
                  </a:solidFill>
                  <a:effectLst/>
                </a:rPr>
                <a:t>Collaboration:- </a:t>
              </a:r>
              <a:r>
                <a:rPr lang="en-US" sz="2000" b="0" i="0" dirty="0">
                  <a:solidFill>
                    <a:schemeClr val="bg1"/>
                  </a:solidFill>
                  <a:effectLst/>
                </a:rPr>
                <a:t>The cloud computing platform helps employees who are located in different geographies to collaborate in a highly convenient and secure manner.</a:t>
              </a:r>
            </a:p>
            <a:p>
              <a:pPr marL="342900" indent="-342900" algn="just">
                <a:lnSpc>
                  <a:spcPct val="150000"/>
                </a:lnSpc>
                <a:buFont typeface="Wingdings" panose="05000000000000000000" pitchFamily="2" charset="2"/>
                <a:buChar char="ü"/>
              </a:pPr>
              <a:r>
                <a:rPr lang="en-US" sz="2000" b="1" i="0" dirty="0">
                  <a:solidFill>
                    <a:schemeClr val="bg1"/>
                  </a:solidFill>
                  <a:effectLst/>
                </a:rPr>
                <a:t>Quick Deployment:- </a:t>
              </a:r>
              <a:r>
                <a:rPr lang="en-US" sz="2000" b="0" i="0" dirty="0">
                  <a:solidFill>
                    <a:schemeClr val="bg1"/>
                  </a:solidFill>
                  <a:effectLst/>
                </a:rPr>
                <a:t>Last but not least, cloud computing gives you the advantage of rapid deployment. So, when you decide to use the cloud, your entire system can be fully functional in very few minutes. Although, the amount of time taken depends on what kind of technologies are used in your business.</a:t>
              </a:r>
            </a:p>
          </p:txBody>
        </p:sp>
        <p:sp>
          <p:nvSpPr>
            <p:cNvPr id="5" name="TextBox 4"/>
            <p:cNvSpPr txBox="1"/>
            <p:nvPr/>
          </p:nvSpPr>
          <p:spPr>
            <a:xfrm>
              <a:off x="611560" y="313531"/>
              <a:ext cx="3024336" cy="646331"/>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grpSp>
        <p:nvGrpSpPr>
          <p:cNvPr id="6" name="Group 5">
            <a:extLst>
              <a:ext uri="{FF2B5EF4-FFF2-40B4-BE49-F238E27FC236}">
                <a16:creationId xmlns:a16="http://schemas.microsoft.com/office/drawing/2014/main" xmlns="" id="{82186892-8954-4BA0-A7BC-FAB17F85720C}"/>
              </a:ext>
            </a:extLst>
          </p:cNvPr>
          <p:cNvGrpSpPr/>
          <p:nvPr/>
        </p:nvGrpSpPr>
        <p:grpSpPr>
          <a:xfrm>
            <a:off x="7380312" y="129449"/>
            <a:ext cx="1584176" cy="1211319"/>
            <a:chOff x="6804248" y="129448"/>
            <a:chExt cx="2339752" cy="1705661"/>
          </a:xfrm>
        </p:grpSpPr>
        <p:grpSp>
          <p:nvGrpSpPr>
            <p:cNvPr id="7" name="Group 6">
              <a:extLst>
                <a:ext uri="{FF2B5EF4-FFF2-40B4-BE49-F238E27FC236}">
                  <a16:creationId xmlns:a16="http://schemas.microsoft.com/office/drawing/2014/main" xmlns="" id="{07F3A35B-D93F-4631-9839-F0A609FE0AA8}"/>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3" name="Rounded Rectangle 11">
                <a:extLst>
                  <a:ext uri="{FF2B5EF4-FFF2-40B4-BE49-F238E27FC236}">
                    <a16:creationId xmlns:a16="http://schemas.microsoft.com/office/drawing/2014/main" xmlns="" id="{B5CF33AD-6A9F-4D25-B048-CADA83AD4590}"/>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4207D454-FFA8-4698-9F99-FD73B6650487}"/>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6B7970B1-079B-4886-BF7F-70A227913C30}"/>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xmlns="" id="{2587B296-CB89-413C-B76E-0DF969056A2C}"/>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 name="Group 7">
              <a:extLst>
                <a:ext uri="{FF2B5EF4-FFF2-40B4-BE49-F238E27FC236}">
                  <a16:creationId xmlns:a16="http://schemas.microsoft.com/office/drawing/2014/main" xmlns="" id="{6CB4376D-78C5-4251-B4CE-9932B8536E36}"/>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9" name="Rounded Rectangle 7">
                <a:extLst>
                  <a:ext uri="{FF2B5EF4-FFF2-40B4-BE49-F238E27FC236}">
                    <a16:creationId xmlns:a16="http://schemas.microsoft.com/office/drawing/2014/main" xmlns="" id="{44BBB835-A2F8-4B34-86E8-EA9DA943FA57}"/>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2E6B3250-D9D7-43A2-AF02-33E2AC2724D4}"/>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521E6FDC-4ECB-459A-9299-42CE9BB9C897}"/>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xmlns="" id="{D9DC06B5-6612-4AEA-8D59-4643BD5BA1B2}"/>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68935" y="188640"/>
            <a:ext cx="8406130" cy="6274042"/>
            <a:chOff x="368935" y="188640"/>
            <a:chExt cx="8406130" cy="6274042"/>
          </a:xfrm>
        </p:grpSpPr>
        <p:sp>
          <p:nvSpPr>
            <p:cNvPr id="2" name="TextBox 1"/>
            <p:cNvSpPr txBox="1"/>
            <p:nvPr/>
          </p:nvSpPr>
          <p:spPr>
            <a:xfrm>
              <a:off x="368935" y="188640"/>
              <a:ext cx="6972550" cy="1200329"/>
            </a:xfrm>
            <a:prstGeom prst="rect">
              <a:avLst/>
            </a:prstGeom>
            <a:noFill/>
          </p:spPr>
          <p:txBody>
            <a:bodyPr wrap="square" rtlCol="0">
              <a:spAutoFit/>
            </a:bodyPr>
            <a:lstStyle/>
            <a:p>
              <a:r>
                <a:rPr lang="en-US" sz="3600" b="1" dirty="0">
                  <a:solidFill>
                    <a:schemeClr val="bg1"/>
                  </a:solidFill>
                </a:rPr>
                <a:t>DISADVANTAGE OF CLOUD COMPUTING</a:t>
              </a:r>
              <a:endParaRPr lang="en-IN" sz="3600" b="1" dirty="0">
                <a:solidFill>
                  <a:schemeClr val="bg1"/>
                </a:solidFill>
              </a:endParaRPr>
            </a:p>
          </p:txBody>
        </p:sp>
        <p:sp>
          <p:nvSpPr>
            <p:cNvPr id="3" name="Text Box 2"/>
            <p:cNvSpPr txBox="1"/>
            <p:nvPr/>
          </p:nvSpPr>
          <p:spPr>
            <a:xfrm>
              <a:off x="368935" y="1293147"/>
              <a:ext cx="8406130" cy="5169535"/>
            </a:xfrm>
            <a:prstGeom prst="rect">
              <a:avLst/>
            </a:prstGeom>
            <a:noFill/>
          </p:spPr>
          <p:txBody>
            <a:bodyPr wrap="square" rtlCol="0" anchor="t">
              <a:spAutoFit/>
            </a:bodyPr>
            <a:lstStyle/>
            <a:p>
              <a:pPr marL="342900" indent="-342900" algn="just">
                <a:lnSpc>
                  <a:spcPct val="150000"/>
                </a:lnSpc>
                <a:buFont typeface="Wingdings" panose="05000000000000000000" pitchFamily="2" charset="2"/>
                <a:buChar char="ü"/>
              </a:pPr>
              <a:r>
                <a:rPr lang="en-US" sz="2000" b="1" dirty="0">
                  <a:solidFill>
                    <a:schemeClr val="bg1"/>
                  </a:solidFill>
                  <a:cs typeface="+mn-lt"/>
                </a:rPr>
                <a:t>Performance Can Vary:</a:t>
              </a:r>
              <a:r>
                <a:rPr lang="en-US" sz="2000" dirty="0">
                  <a:solidFill>
                    <a:schemeClr val="bg1"/>
                  </a:solidFill>
                  <a:cs typeface="+mn-lt"/>
                </a:rPr>
                <a:t>- When you are working in a cloud environment, your application is running on the server which simultaneously provides resources to other businesses. Any greedy behavior or DDOS attack on your tenant could affect the performance of your shared resource.</a:t>
              </a:r>
            </a:p>
            <a:p>
              <a:pPr marL="342900" indent="-342900" algn="just">
                <a:lnSpc>
                  <a:spcPct val="150000"/>
                </a:lnSpc>
                <a:buFont typeface="Wingdings" panose="05000000000000000000" pitchFamily="2" charset="2"/>
                <a:buChar char="ü"/>
              </a:pPr>
              <a:r>
                <a:rPr lang="en-US" sz="2000" b="1" dirty="0">
                  <a:solidFill>
                    <a:schemeClr val="bg1"/>
                  </a:solidFill>
                  <a:cs typeface="+mn-lt"/>
                </a:rPr>
                <a:t>Technical Issues:</a:t>
              </a:r>
              <a:r>
                <a:rPr lang="en-US" sz="2000" dirty="0">
                  <a:solidFill>
                    <a:schemeClr val="bg1"/>
                  </a:solidFill>
                  <a:cs typeface="+mn-lt"/>
                </a:rPr>
                <a:t>- Cloud technology is always prone to an outage and other technical issues. Even, the best cloud service provider companies may face this type of trouble despite maintaining high standards of maintenance.</a:t>
              </a:r>
            </a:p>
            <a:p>
              <a:pPr marL="342900" indent="-342900" algn="just">
                <a:lnSpc>
                  <a:spcPct val="150000"/>
                </a:lnSpc>
                <a:buFont typeface="Wingdings" panose="05000000000000000000" pitchFamily="2" charset="2"/>
                <a:buChar char="ü"/>
              </a:pPr>
              <a:r>
                <a:rPr lang="en-US" sz="2000" b="1" dirty="0">
                  <a:solidFill>
                    <a:schemeClr val="bg1"/>
                  </a:solidFill>
                  <a:cs typeface="+mn-lt"/>
                </a:rPr>
                <a:t>Security Threat in the Cloud:- </a:t>
              </a:r>
              <a:r>
                <a:rPr lang="en-US" sz="2000" dirty="0">
                  <a:solidFill>
                    <a:schemeClr val="bg1"/>
                  </a:solidFill>
                  <a:cs typeface="+mn-lt"/>
                </a:rPr>
                <a:t>Another drawback while working with cloud computing services is security risk. Before adopting cloud technology, you should be well aware of the fact that you will be sharing all your company's sensitive information to a third-party cloud computing service provider. </a:t>
              </a:r>
            </a:p>
          </p:txBody>
        </p:sp>
      </p:grpSp>
      <p:grpSp>
        <p:nvGrpSpPr>
          <p:cNvPr id="5" name="Group 4">
            <a:extLst>
              <a:ext uri="{FF2B5EF4-FFF2-40B4-BE49-F238E27FC236}">
                <a16:creationId xmlns:a16="http://schemas.microsoft.com/office/drawing/2014/main" xmlns="" id="{E12DF1CC-5F08-4E6F-A253-7D88391E8ACD}"/>
              </a:ext>
            </a:extLst>
          </p:cNvPr>
          <p:cNvGrpSpPr/>
          <p:nvPr/>
        </p:nvGrpSpPr>
        <p:grpSpPr>
          <a:xfrm>
            <a:off x="7164288" y="129449"/>
            <a:ext cx="1800200" cy="1200329"/>
            <a:chOff x="6804248" y="129448"/>
            <a:chExt cx="2339752" cy="1705661"/>
          </a:xfrm>
        </p:grpSpPr>
        <p:grpSp>
          <p:nvGrpSpPr>
            <p:cNvPr id="6" name="Group 5">
              <a:extLst>
                <a:ext uri="{FF2B5EF4-FFF2-40B4-BE49-F238E27FC236}">
                  <a16:creationId xmlns:a16="http://schemas.microsoft.com/office/drawing/2014/main" xmlns="" id="{7A47F4E6-9F3B-4760-BD41-AF88D1A08D56}"/>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2" name="Rounded Rectangle 11">
                <a:extLst>
                  <a:ext uri="{FF2B5EF4-FFF2-40B4-BE49-F238E27FC236}">
                    <a16:creationId xmlns:a16="http://schemas.microsoft.com/office/drawing/2014/main" xmlns="" id="{4F448080-5B4A-4CEE-854C-D6E6473D377A}"/>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xmlns="" id="{40835438-8F8A-47D7-B5FD-82F1AC3AF48D}"/>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E8376A2F-D626-4E56-BB1A-15E02EE08CEF}"/>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9443C1BA-75F1-48D5-A512-B866A70DCADB}"/>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C097E8FA-9A05-4381-9559-AF7AD0D51521}"/>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8" name="Rounded Rectangle 7">
                <a:extLst>
                  <a:ext uri="{FF2B5EF4-FFF2-40B4-BE49-F238E27FC236}">
                    <a16:creationId xmlns:a16="http://schemas.microsoft.com/office/drawing/2014/main" xmlns="" id="{3DB36BCD-1539-418F-AB0F-EB747ABC4C12}"/>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DF6306CB-1724-45C7-8D53-4B2F9BE4AD4F}"/>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D371CA26-2A2A-467E-9A93-3956E8F7F330}"/>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738B0A59-55BA-411B-A7E5-C8B02C6CE825}"/>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08940" y="313531"/>
            <a:ext cx="8326120" cy="6355829"/>
            <a:chOff x="408940" y="313531"/>
            <a:chExt cx="8326120" cy="6442234"/>
          </a:xfrm>
        </p:grpSpPr>
        <p:sp>
          <p:nvSpPr>
            <p:cNvPr id="2" name="Text Box 1"/>
            <p:cNvSpPr txBox="1"/>
            <p:nvPr/>
          </p:nvSpPr>
          <p:spPr>
            <a:xfrm>
              <a:off x="408940" y="1124585"/>
              <a:ext cx="8326120" cy="5631180"/>
            </a:xfrm>
            <a:prstGeom prst="rect">
              <a:avLst/>
            </a:prstGeom>
            <a:noFill/>
          </p:spPr>
          <p:txBody>
            <a:bodyPr wrap="square" rtlCol="0" anchor="t">
              <a:spAutoFit/>
            </a:bodyPr>
            <a:lstStyle/>
            <a:p>
              <a:pPr marL="342900" indent="-342900" algn="just">
                <a:lnSpc>
                  <a:spcPct val="150000"/>
                </a:lnSpc>
                <a:buFont typeface="Wingdings" panose="05000000000000000000" pitchFamily="2" charset="2"/>
                <a:buChar char="ü"/>
              </a:pPr>
              <a:r>
                <a:rPr lang="en-US" sz="2000" b="1" dirty="0">
                  <a:solidFill>
                    <a:schemeClr val="bg1"/>
                  </a:solidFill>
                  <a:cs typeface="+mn-lt"/>
                  <a:sym typeface="+mn-ea"/>
                </a:rPr>
                <a:t>Downtime:-</a:t>
              </a:r>
              <a:r>
                <a:rPr lang="en-US" sz="2000" dirty="0">
                  <a:solidFill>
                    <a:schemeClr val="bg1"/>
                  </a:solidFill>
                  <a:cs typeface="+mn-lt"/>
                  <a:sym typeface="+mn-ea"/>
                </a:rPr>
                <a:t> Downtime should also be considered while working with cloud computing. That's because your cloud provider may face power loss, low internet connectivity, service maintenance, etc.</a:t>
              </a:r>
              <a:endParaRPr lang="en-US" sz="2000" dirty="0">
                <a:solidFill>
                  <a:schemeClr val="bg1"/>
                </a:solidFill>
                <a:cs typeface="+mn-lt"/>
              </a:endParaRPr>
            </a:p>
            <a:p>
              <a:pPr marL="342900" indent="-342900" algn="just">
                <a:lnSpc>
                  <a:spcPct val="150000"/>
                </a:lnSpc>
                <a:buFont typeface="Wingdings" panose="05000000000000000000" pitchFamily="2" charset="2"/>
                <a:buChar char="ü"/>
              </a:pPr>
              <a:r>
                <a:rPr lang="en-US" sz="2000" b="1" dirty="0">
                  <a:solidFill>
                    <a:schemeClr val="bg1"/>
                  </a:solidFill>
                  <a:cs typeface="+mn-lt"/>
                  <a:sym typeface="+mn-ea"/>
                </a:rPr>
                <a:t>Internet Connectivity:</a:t>
              </a:r>
              <a:r>
                <a:rPr lang="en-US" sz="2000" dirty="0">
                  <a:solidFill>
                    <a:schemeClr val="bg1"/>
                  </a:solidFill>
                  <a:cs typeface="+mn-lt"/>
                  <a:sym typeface="+mn-ea"/>
                </a:rPr>
                <a:t>- Good Internet connectivity is a must in cloud computing. You can't access cloud without an internet connection. Moreover, you don't have any other way to gather data from the cloud.</a:t>
              </a:r>
              <a:endParaRPr lang="en-US" sz="2000" dirty="0">
                <a:solidFill>
                  <a:schemeClr val="bg1"/>
                </a:solidFill>
                <a:cs typeface="+mn-lt"/>
              </a:endParaRPr>
            </a:p>
            <a:p>
              <a:pPr marL="342900" indent="-342900" algn="just">
                <a:lnSpc>
                  <a:spcPct val="150000"/>
                </a:lnSpc>
                <a:buFont typeface="Wingdings" panose="05000000000000000000" pitchFamily="2" charset="2"/>
                <a:buChar char="ü"/>
              </a:pPr>
              <a:r>
                <a:rPr lang="en-US" sz="2000" b="1" dirty="0">
                  <a:solidFill>
                    <a:schemeClr val="bg1"/>
                  </a:solidFill>
                  <a:cs typeface="+mn-lt"/>
                  <a:sym typeface="+mn-ea"/>
                </a:rPr>
                <a:t>Lower Bandwidth:-</a:t>
              </a:r>
              <a:r>
                <a:rPr lang="en-US" sz="2000" dirty="0">
                  <a:solidFill>
                    <a:schemeClr val="bg1"/>
                  </a:solidFill>
                  <a:cs typeface="+mn-lt"/>
                  <a:sym typeface="+mn-ea"/>
                </a:rPr>
                <a:t> Many cloud storage service providers limit bandwidth usage of their users. So, in case if your organization surpasses the given allowance, the additional charges could be significantly costly</a:t>
              </a:r>
              <a:endParaRPr lang="en-US" sz="2000" dirty="0">
                <a:solidFill>
                  <a:schemeClr val="bg1"/>
                </a:solidFill>
                <a:cs typeface="+mn-lt"/>
              </a:endParaRPr>
            </a:p>
            <a:p>
              <a:pPr marL="342900" indent="-342900" algn="just">
                <a:lnSpc>
                  <a:spcPct val="150000"/>
                </a:lnSpc>
                <a:buFont typeface="Wingdings" panose="05000000000000000000" pitchFamily="2" charset="2"/>
                <a:buChar char="ü"/>
              </a:pPr>
              <a:r>
                <a:rPr lang="en-US" sz="2000" b="1" dirty="0">
                  <a:solidFill>
                    <a:schemeClr val="bg1"/>
                  </a:solidFill>
                  <a:cs typeface="+mn-lt"/>
                  <a:sym typeface="+mn-ea"/>
                </a:rPr>
                <a:t>Lacks of Support:-</a:t>
              </a:r>
              <a:r>
                <a:rPr lang="en-US" sz="2000" dirty="0">
                  <a:solidFill>
                    <a:schemeClr val="bg1"/>
                  </a:solidFill>
                  <a:cs typeface="+mn-lt"/>
                  <a:sym typeface="+mn-ea"/>
                </a:rPr>
                <a:t> Cloud Computing companies fail to provide proper support to the customers. Moreover, they want their user to depend on FAQs or online help, which can be a tedious job for non-technical persons.</a:t>
              </a:r>
            </a:p>
          </p:txBody>
        </p:sp>
        <p:sp>
          <p:nvSpPr>
            <p:cNvPr id="5" name="TextBox 4"/>
            <p:cNvSpPr txBox="1"/>
            <p:nvPr/>
          </p:nvSpPr>
          <p:spPr>
            <a:xfrm>
              <a:off x="611560" y="313531"/>
              <a:ext cx="3024336" cy="655118"/>
            </a:xfrm>
            <a:prstGeom prst="rect">
              <a:avLst/>
            </a:prstGeom>
            <a:noFill/>
          </p:spPr>
          <p:txBody>
            <a:bodyPr wrap="square" rtlCol="0">
              <a:spAutoFit/>
            </a:bodyPr>
            <a:lstStyle/>
            <a:p>
              <a:r>
                <a:rPr lang="en-US" sz="3600" b="1" dirty="0">
                  <a:solidFill>
                    <a:schemeClr val="bg1"/>
                  </a:solidFill>
                </a:rPr>
                <a:t>CONTI..</a:t>
              </a:r>
              <a:endParaRPr lang="en-IN" sz="3600" b="1" dirty="0">
                <a:solidFill>
                  <a:schemeClr val="bg1"/>
                </a:solidFill>
              </a:endParaRPr>
            </a:p>
          </p:txBody>
        </p:sp>
      </p:grpSp>
      <p:grpSp>
        <p:nvGrpSpPr>
          <p:cNvPr id="6" name="Group 5">
            <a:extLst>
              <a:ext uri="{FF2B5EF4-FFF2-40B4-BE49-F238E27FC236}">
                <a16:creationId xmlns:a16="http://schemas.microsoft.com/office/drawing/2014/main" xmlns="" id="{D8B863B0-459B-44C7-853F-7BFABA211BA8}"/>
              </a:ext>
            </a:extLst>
          </p:cNvPr>
          <p:cNvGrpSpPr/>
          <p:nvPr/>
        </p:nvGrpSpPr>
        <p:grpSpPr>
          <a:xfrm>
            <a:off x="7380312" y="129449"/>
            <a:ext cx="1584176" cy="984258"/>
            <a:chOff x="6804248" y="129448"/>
            <a:chExt cx="2339752" cy="1705661"/>
          </a:xfrm>
        </p:grpSpPr>
        <p:grpSp>
          <p:nvGrpSpPr>
            <p:cNvPr id="7" name="Group 6">
              <a:extLst>
                <a:ext uri="{FF2B5EF4-FFF2-40B4-BE49-F238E27FC236}">
                  <a16:creationId xmlns:a16="http://schemas.microsoft.com/office/drawing/2014/main" xmlns="" id="{C4960DF9-A665-4BDE-9ECE-605A55927378}"/>
                </a:ext>
              </a:extLst>
            </p:cNvPr>
            <p:cNvGrpSpPr/>
            <p:nvPr/>
          </p:nvGrpSpPr>
          <p:grpSpPr>
            <a:xfrm>
              <a:off x="6804248" y="129448"/>
              <a:ext cx="2339752" cy="1558543"/>
              <a:chOff x="1691681" y="1046076"/>
              <a:chExt cx="6120678" cy="3895092"/>
            </a:xfrm>
            <a:solidFill>
              <a:srgbClr val="00B0F0"/>
            </a:solidFill>
            <a:scene3d>
              <a:camera prst="isometricOffAxis1Right"/>
              <a:lightRig rig="threePt" dir="t"/>
            </a:scene3d>
          </p:grpSpPr>
          <p:sp>
            <p:nvSpPr>
              <p:cNvPr id="13" name="Rounded Rectangle 11">
                <a:extLst>
                  <a:ext uri="{FF2B5EF4-FFF2-40B4-BE49-F238E27FC236}">
                    <a16:creationId xmlns:a16="http://schemas.microsoft.com/office/drawing/2014/main" xmlns="" id="{C77084AF-5BC4-4A9F-B422-57ED728816C7}"/>
                  </a:ext>
                </a:extLst>
              </p:cNvPr>
              <p:cNvSpPr/>
              <p:nvPr/>
            </p:nvSpPr>
            <p:spPr>
              <a:xfrm>
                <a:off x="1691681" y="3212977"/>
                <a:ext cx="6120678" cy="1728191"/>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xmlns="" id="{B7B86CA6-B87F-4374-8AD8-C36994D07D49}"/>
                  </a:ext>
                </a:extLst>
              </p:cNvPr>
              <p:cNvSpPr/>
              <p:nvPr/>
            </p:nvSpPr>
            <p:spPr>
              <a:xfrm>
                <a:off x="2195736" y="1898964"/>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xmlns="" id="{46502343-7A07-42FE-86B1-DFC016F5D7FE}"/>
                  </a:ext>
                </a:extLst>
              </p:cNvPr>
              <p:cNvSpPr/>
              <p:nvPr/>
            </p:nvSpPr>
            <p:spPr>
              <a:xfrm>
                <a:off x="3563889" y="1046076"/>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xmlns="" id="{015D5467-4A20-43A7-AC16-AB0F7771BD17}"/>
                  </a:ext>
                </a:extLst>
              </p:cNvPr>
              <p:cNvSpPr/>
              <p:nvPr/>
            </p:nvSpPr>
            <p:spPr>
              <a:xfrm>
                <a:off x="4781664" y="2096852"/>
                <a:ext cx="2232247" cy="2232247"/>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 name="Group 7">
              <a:extLst>
                <a:ext uri="{FF2B5EF4-FFF2-40B4-BE49-F238E27FC236}">
                  <a16:creationId xmlns:a16="http://schemas.microsoft.com/office/drawing/2014/main" xmlns="" id="{F7AEEEDF-C7C9-4443-BE42-7F85708624AB}"/>
                </a:ext>
              </a:extLst>
            </p:cNvPr>
            <p:cNvGrpSpPr/>
            <p:nvPr/>
          </p:nvGrpSpPr>
          <p:grpSpPr>
            <a:xfrm>
              <a:off x="6861586" y="549895"/>
              <a:ext cx="1788991" cy="1285214"/>
              <a:chOff x="1691680" y="1046075"/>
              <a:chExt cx="6120681" cy="3895093"/>
            </a:xfrm>
            <a:solidFill>
              <a:schemeClr val="bg1"/>
            </a:solidFill>
            <a:scene3d>
              <a:camera prst="isometricOffAxis1Right"/>
              <a:lightRig rig="threePt" dir="t"/>
            </a:scene3d>
          </p:grpSpPr>
          <p:sp>
            <p:nvSpPr>
              <p:cNvPr id="9" name="Rounded Rectangle 7">
                <a:extLst>
                  <a:ext uri="{FF2B5EF4-FFF2-40B4-BE49-F238E27FC236}">
                    <a16:creationId xmlns:a16="http://schemas.microsoft.com/office/drawing/2014/main" xmlns="" id="{CEDAFB00-A6F1-4B57-A6B3-A6F37F1F2D8E}"/>
                  </a:ext>
                </a:extLst>
              </p:cNvPr>
              <p:cNvSpPr/>
              <p:nvPr/>
            </p:nvSpPr>
            <p:spPr>
              <a:xfrm>
                <a:off x="1691680" y="3212974"/>
                <a:ext cx="6120681" cy="1728194"/>
              </a:xfrm>
              <a:prstGeom prst="roundRect">
                <a:avLst>
                  <a:gd name="adj" fmla="val 50000"/>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699C78D1-3FE9-439B-BFA9-BBE19AE3AD18}"/>
                  </a:ext>
                </a:extLst>
              </p:cNvPr>
              <p:cNvSpPr/>
              <p:nvPr/>
            </p:nvSpPr>
            <p:spPr>
              <a:xfrm>
                <a:off x="2195737" y="1898964"/>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xmlns="" id="{AF6FEC3C-2FBC-45FF-9F84-548DF8882059}"/>
                  </a:ext>
                </a:extLst>
              </p:cNvPr>
              <p:cNvSpPr/>
              <p:nvPr/>
            </p:nvSpPr>
            <p:spPr>
              <a:xfrm>
                <a:off x="3563889" y="1046075"/>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xmlns="" id="{31197B13-45A3-4BB4-9C97-8390DB6A267E}"/>
                  </a:ext>
                </a:extLst>
              </p:cNvPr>
              <p:cNvSpPr/>
              <p:nvPr/>
            </p:nvSpPr>
            <p:spPr>
              <a:xfrm>
                <a:off x="4781664" y="2096851"/>
                <a:ext cx="2232250" cy="2232250"/>
              </a:xfrm>
              <a:prstGeom prst="ellipse">
                <a:avLst/>
              </a:prstGeom>
              <a:grpFill/>
              <a:ln>
                <a:noFill/>
              </a:ln>
              <a:sp3d extrusionH="158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2)">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4B44F61B-07EB-478F-86A8-B0AAA088B1D9}"/>
              </a:ext>
            </a:extLst>
          </p:cNvPr>
          <p:cNvSpPr txBox="1"/>
          <p:nvPr/>
        </p:nvSpPr>
        <p:spPr>
          <a:xfrm>
            <a:off x="611560" y="313531"/>
            <a:ext cx="3024336" cy="646331"/>
          </a:xfrm>
          <a:prstGeom prst="rect">
            <a:avLst/>
          </a:prstGeom>
          <a:noFill/>
        </p:spPr>
        <p:txBody>
          <a:bodyPr wrap="square" rtlCol="0">
            <a:spAutoFit/>
          </a:bodyPr>
          <a:lstStyle/>
          <a:p>
            <a:r>
              <a:rPr lang="en-US" sz="3600" b="1" dirty="0">
                <a:solidFill>
                  <a:schemeClr val="bg1"/>
                </a:solidFill>
              </a:rPr>
              <a:t>REFERENCE</a:t>
            </a:r>
            <a:endParaRPr lang="en-IN" sz="3600" b="1" dirty="0">
              <a:solidFill>
                <a:schemeClr val="bg1"/>
              </a:solidFill>
            </a:endParaRPr>
          </a:p>
        </p:txBody>
      </p:sp>
      <p:sp>
        <p:nvSpPr>
          <p:cNvPr id="4" name="TextBox 3">
            <a:extLst>
              <a:ext uri="{FF2B5EF4-FFF2-40B4-BE49-F238E27FC236}">
                <a16:creationId xmlns:a16="http://schemas.microsoft.com/office/drawing/2014/main" xmlns="" id="{E8061D35-1DC4-461F-9E52-4EDB04147CCF}"/>
              </a:ext>
            </a:extLst>
          </p:cNvPr>
          <p:cNvSpPr txBox="1"/>
          <p:nvPr/>
        </p:nvSpPr>
        <p:spPr>
          <a:xfrm>
            <a:off x="395536" y="1628800"/>
            <a:ext cx="8352928" cy="3913059"/>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dirty="0">
                <a:solidFill>
                  <a:schemeClr val="accent5">
                    <a:lumMod val="20000"/>
                    <a:lumOff val="80000"/>
                  </a:schemeClr>
                </a:solidFill>
                <a:hlinkClick r:id="rId2">
                  <a:extLst>
                    <a:ext uri="{A12FA001-AC4F-418D-AE19-62706E023703}">
                      <ahyp:hlinkClr xmlns:ahyp="http://schemas.microsoft.com/office/drawing/2018/hyperlinkcolor" xmlns="" val="tx"/>
                    </a:ext>
                  </a:extLst>
                </a:hlinkClick>
              </a:rPr>
              <a:t>cloud_computing_final_report.pdf</a:t>
            </a:r>
            <a:endParaRPr lang="en-US" sz="2400" dirty="0">
              <a:solidFill>
                <a:schemeClr val="accent5">
                  <a:lumMod val="20000"/>
                  <a:lumOff val="80000"/>
                </a:schemeClr>
              </a:solidFill>
            </a:endParaRPr>
          </a:p>
          <a:p>
            <a:pPr marL="342900" indent="-342900" algn="just">
              <a:lnSpc>
                <a:spcPct val="150000"/>
              </a:lnSpc>
              <a:buFont typeface="Wingdings" panose="05000000000000000000" pitchFamily="2" charset="2"/>
              <a:buChar char="ü"/>
            </a:pPr>
            <a:r>
              <a:rPr lang="en-US" sz="2400" dirty="0">
                <a:solidFill>
                  <a:schemeClr val="accent5">
                    <a:lumMod val="20000"/>
                    <a:lumOff val="80000"/>
                  </a:schemeClr>
                </a:solidFill>
                <a:hlinkClick r:id="rId3">
                  <a:extLst>
                    <a:ext uri="{A12FA001-AC4F-418D-AE19-62706E023703}">
                      <ahyp:hlinkClr xmlns:ahyp="http://schemas.microsoft.com/office/drawing/2018/hyperlinkcolor" xmlns="" val="tx"/>
                    </a:ext>
                  </a:extLst>
                </a:hlinkClick>
              </a:rPr>
              <a:t>Evolution_of_Cloud_Computing_and_Enabling_Technolo.pdf</a:t>
            </a:r>
            <a:endParaRPr lang="en-US" sz="2400" dirty="0">
              <a:solidFill>
                <a:schemeClr val="accent5">
                  <a:lumMod val="20000"/>
                  <a:lumOff val="80000"/>
                </a:schemeClr>
              </a:solidFill>
            </a:endParaRPr>
          </a:p>
          <a:p>
            <a:pPr marL="342900" indent="-342900" algn="just">
              <a:lnSpc>
                <a:spcPct val="150000"/>
              </a:lnSpc>
              <a:buFont typeface="Wingdings" panose="05000000000000000000" pitchFamily="2" charset="2"/>
              <a:buChar char="ü"/>
            </a:pPr>
            <a:r>
              <a:rPr lang="en-US" sz="2400" dirty="0">
                <a:solidFill>
                  <a:schemeClr val="accent5">
                    <a:lumMod val="20000"/>
                    <a:lumOff val="80000"/>
                  </a:schemeClr>
                </a:solidFill>
                <a:hlinkClick r:id="rId4">
                  <a:extLst>
                    <a:ext uri="{A12FA001-AC4F-418D-AE19-62706E023703}">
                      <ahyp:hlinkClr xmlns:ahyp="http://schemas.microsoft.com/office/drawing/2018/hyperlinkcolor" xmlns="" val="tx"/>
                    </a:ext>
                  </a:extLst>
                </a:hlinkClick>
              </a:rPr>
              <a:t>https://www.guru99.com/advantages-disadvantages-cloud-computing.html</a:t>
            </a:r>
            <a:endParaRPr lang="en-US" sz="2400" dirty="0">
              <a:solidFill>
                <a:schemeClr val="accent5">
                  <a:lumMod val="20000"/>
                  <a:lumOff val="80000"/>
                </a:schemeClr>
              </a:solidFill>
            </a:endParaRPr>
          </a:p>
          <a:p>
            <a:pPr marL="342900" indent="-342900" algn="just">
              <a:lnSpc>
                <a:spcPct val="150000"/>
              </a:lnSpc>
              <a:buFont typeface="Wingdings" panose="05000000000000000000" pitchFamily="2" charset="2"/>
              <a:buChar char="ü"/>
            </a:pPr>
            <a:r>
              <a:rPr lang="en-US" sz="2400" dirty="0">
                <a:solidFill>
                  <a:schemeClr val="accent5">
                    <a:lumMod val="20000"/>
                    <a:lumOff val="80000"/>
                  </a:schemeClr>
                </a:solidFill>
                <a:hlinkClick r:id="rId5">
                  <a:extLst>
                    <a:ext uri="{A12FA001-AC4F-418D-AE19-62706E023703}">
                      <ahyp:hlinkClr xmlns:ahyp="http://schemas.microsoft.com/office/drawing/2018/hyperlinkcolor" xmlns="" val="tx"/>
                    </a:ext>
                  </a:extLst>
                </a:hlinkClick>
              </a:rPr>
              <a:t>https://www.stratospherenetworks.com/advantages-and-disadvantages-of-cloud.html</a:t>
            </a:r>
            <a:endParaRPr lang="en-US" sz="2400" dirty="0">
              <a:solidFill>
                <a:schemeClr val="accent5">
                  <a:lumMod val="20000"/>
                  <a:lumOff val="80000"/>
                </a:schemeClr>
              </a:solidFill>
            </a:endParaRPr>
          </a:p>
          <a:p>
            <a:pPr marL="342900" indent="-342900" algn="just">
              <a:lnSpc>
                <a:spcPct val="150000"/>
              </a:lnSpc>
              <a:buFont typeface="Wingdings" panose="05000000000000000000" pitchFamily="2" charset="2"/>
              <a:buChar char="ü"/>
            </a:pPr>
            <a:r>
              <a:rPr lang="en-US" sz="2400" dirty="0">
                <a:solidFill>
                  <a:schemeClr val="accent5">
                    <a:lumMod val="20000"/>
                    <a:lumOff val="80000"/>
                  </a:schemeClr>
                </a:solidFill>
                <a:hlinkClick r:id="rId6">
                  <a:extLst>
                    <a:ext uri="{A12FA001-AC4F-418D-AE19-62706E023703}">
                      <ahyp:hlinkClr xmlns:ahyp="http://schemas.microsoft.com/office/drawing/2018/hyperlinkcolor" xmlns="" val="tx"/>
                    </a:ext>
                  </a:extLst>
                </a:hlinkClick>
              </a:rPr>
              <a:t>https://en.wikipedia.org/wiki/Cloud_computing</a:t>
            </a:r>
            <a:endParaRPr lang="en-US" sz="2400" dirty="0">
              <a:solidFill>
                <a:schemeClr val="accent5">
                  <a:lumMod val="20000"/>
                  <a:lumOff val="80000"/>
                </a:schemeClr>
              </a:solidFill>
            </a:endParaRPr>
          </a:p>
        </p:txBody>
      </p:sp>
    </p:spTree>
    <p:extLst>
      <p:ext uri="{BB962C8B-B14F-4D97-AF65-F5344CB8AC3E}">
        <p14:creationId xmlns:p14="http://schemas.microsoft.com/office/powerpoint/2010/main" val="345519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1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614" y="1484784"/>
            <a:ext cx="6948772" cy="4638258"/>
          </a:xfrm>
          <a:prstGeom prst="cloud">
            <a:avLst/>
          </a:prstGeom>
          <a:solidFill>
            <a:schemeClr val="accent5">
              <a:lumMod val="40000"/>
              <a:lumOff val="60000"/>
            </a:schemeClr>
          </a:solidFill>
          <a:ln>
            <a:noFill/>
          </a:ln>
          <a:scene3d>
            <a:camera prst="isometricOffAxis1Right"/>
            <a:lightRig rig="twoPt" dir="t">
              <a:rot lat="0" lon="0" rev="3600000"/>
            </a:lightRig>
          </a:scene3d>
          <a:sp3d extrusionH="647700" prstMaterial="matte">
            <a:extrusionClr>
              <a:schemeClr val="accent5">
                <a:lumMod val="40000"/>
                <a:lumOff val="60000"/>
              </a:schemeClr>
            </a:extrusionClr>
          </a:sp3d>
        </p:spPr>
        <p:txBody>
          <a:bodyPr wrap="square" rtlCol="0">
            <a:spAutoFit/>
          </a:bodyPr>
          <a:lstStyle/>
          <a:p>
            <a:pPr algn="ctr"/>
            <a:r>
              <a:rPr lang="en-US" sz="9600" b="1" dirty="0">
                <a:solidFill>
                  <a:srgbClr val="002060"/>
                </a:solidFill>
                <a:latin typeface="+mj-lt"/>
              </a:rPr>
              <a:t>THANK YOU</a:t>
            </a:r>
            <a:endParaRPr lang="en-IN" sz="9600" b="1" dirty="0">
              <a:solidFill>
                <a:srgbClr val="002060"/>
              </a:solidFill>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ppt_w</p:attrName>
                                        </p:attrNameLst>
                                      </p:cBhvr>
                                      <p:tavLst>
                                        <p:tav tm="0" fmla="#ppt_w*sin(2.5*pi*$)">
                                          <p:val>
                                            <p:fltVal val="0"/>
                                          </p:val>
                                        </p:tav>
                                        <p:tav tm="100000">
                                          <p:val>
                                            <p:fltVal val="1"/>
                                          </p:val>
                                        </p:tav>
                                      </p:tavLst>
                                    </p:anim>
                                    <p:anim calcmode="lin" valueType="num">
                                      <p:cBhvr>
                                        <p:cTn id="9" dur="75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2615</Words>
  <Application>Microsoft Office PowerPoint</Application>
  <PresentationFormat>On-screen Show (4:3)</PresentationFormat>
  <Paragraphs>123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Century Gothic</vt:lpstr>
      <vt:lpstr>Helvetica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shivani</cp:lastModifiedBy>
  <cp:revision>165</cp:revision>
  <dcterms:created xsi:type="dcterms:W3CDTF">2021-02-01T08:24:00Z</dcterms:created>
  <dcterms:modified xsi:type="dcterms:W3CDTF">2022-04-02T08:47:58Z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1033-11.2.0.9984</vt:lpwstr>
  </property>
</Properties>
</file>